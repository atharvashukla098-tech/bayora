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welcome to Bayora. Today, every enterprise is deploying LLMs, but AI security is built on wishful thinking and black-box 'trust me' logs. Bayora is the first zero-trust, offline-first red-teaming sandbox that couples deterministic attack simulations with OS runtime containment, hash-chained ledgering, and Ed25519 cryptographic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critical flaw: AI security vendors often claim a system is safe because a classifier said so. In reality, when an attacker bypasses the classifier, the model leaks secrets or writes to the filesystem. Worse, security audits cannot distinguish between a dropped request and an unexecuted check. Bayora solves this.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5 pillars. Notice how each pillar feeds directly into the next: The attack is launched by the Red Harness, intercepted at the FastAPI broker boundary, contained by the OS/runtime sandbox, displayed on the live HUD, and immortalized in a hash-chained ledger.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'Offline-First' and 'Fail Closed'. In hackathons and real SOC environments, tools fail because they depend on flaky Wi-Fi or 20GB model downloads. Bayora runs completely offline, instantaneously, deterministically, and never fakes a passing check.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trust boundary. The Red Harness can ONLY talk to the FastAPI Broker. The Target runs in an isolated container that CANNOT talk to the internet or modify its filesystem. Every single step generates an immutable event in the SHA-256 ledger.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scenario matrix. Note that we do not test toy attacks. We test application schema abuse, prompt canary extraction, container egress network exfiltration, read-only filesystem violations, and cryptographic ledger byte modification.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pre-release redaction: Many guardrails check input, but fail to inspect output. Bayora proves containment by inspecting the ACTUAL released response. If the canary escaped, the test fails. If it was redacted, it is certified as REDACTED.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importance of testing runtime behavior: A yaml file that says 'read_only: true' is just a configuration. Bayora actually executes a write to /protected_file and asserts that the OS throws an EROFS error. That is verifiable security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love cryptography. Explain how our ledger is mathematically identical to a blockchain without the overhead. Every event includes the hash of the preceding event. If anyone alters even one byte in past logs, the hash chain breaks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Ed25519 signatures are crucial: A hash chain alone only proves internal consistency. A malicious user could rewrite the entire ledger from scratch. The Ed25519 signature binds the ledger to a trusted public key, creating authentic proof of origin.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moment that wins hackathons. We don't just show a green checkmark. We actively attack our own disposable ledger copy in real time, prove that the verifier catches the single modified byte, and show that the original ledger remains uncorrupted.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dashboard philosophy: Security operators don't want pretty pie charts. They want incident visibility, real-time threat interception logs, proof of containment, and a one-click audit trail. Bayora's Streamlit HUD is designed purely for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precision of our evaluation matrix: Every row connects an attack vector directly to a specific isolation layer, an observed action, and an exact cryptographic evidence reference in the ledger. There are no vague pass rates.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this slide to the judges: In cybersecurity, anyone claiming 100% universal security is selling snake oil. Bayora documents its exact threat model and limitations. We protect canary assets, host runtime, and audit integrity, and we are completely honest about what we do not claim.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the demo flow: Scene 1 proves it works offline. Scene 2 fires the attack. Scene 3 proves containment. Scene 4 tests the OS sandbox. Scene 5 attacks the audit ledger. Scene 6 validates the cryptographic signature. Total time: 3 minutes. Zero fluff. Pure technical execution.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the closing punchline: 'If an AI security sandbox cannot prove what happened, it didn't happen. Bayora transforms AI red-teaming from a subjective claim into an objective, cryptographically verifiable discipline.' Open the floor for judge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4114800" cy="411480"/>
          </a:xfrm>
          <a:prstGeom prst="roundRect">
            <a:avLst/>
          </a:prstGeom>
          <a:solidFill>
            <a:srgbClr val="102A3C"/>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6B6D4"/>
                </a:solidFill>
              </a:defRPr>
            </a:pPr>
            <a:r>
              <a:t>🛡️ ZERO-TRUST AI SECURITY SANDBOX</a:t>
            </a:r>
          </a:p>
        </p:txBody>
      </p:sp>
      <p:sp>
        <p:nvSpPr>
          <p:cNvPr id="4" name="TextBox 3"/>
          <p:cNvSpPr txBox="1"/>
          <p:nvPr/>
        </p:nvSpPr>
        <p:spPr>
          <a:xfrm>
            <a:off x="731520" y="1737360"/>
            <a:ext cx="10698480" cy="2011680"/>
          </a:xfrm>
          <a:prstGeom prst="rect">
            <a:avLst/>
          </a:prstGeom>
          <a:noFill/>
        </p:spPr>
        <p:txBody>
          <a:bodyPr wrap="square" lIns="0" tIns="0" rIns="0" bIns="0">
            <a:spAutoFit/>
          </a:bodyPr>
          <a:lstStyle/>
          <a:p>
            <a:pPr>
              <a:defRPr sz="6400" b="1">
                <a:solidFill>
                  <a:srgbClr val="F8FAFC"/>
                </a:solidFill>
              </a:defRPr>
            </a:pPr>
            <a:r>
              <a:t>BAYORA</a:t>
            </a:r>
          </a:p>
          <a:p>
            <a:pPr>
              <a:defRPr sz="2000" b="1">
                <a:solidFill>
                  <a:srgbClr val="06B6D4"/>
                </a:solidFill>
              </a:defRPr>
            </a:pPr>
            <a:r>
              <a:t>Runtime Containment, Zero-Trust Red-Teaming &amp; Verifiable Security Evidence</a:t>
            </a:r>
          </a:p>
        </p:txBody>
      </p:sp>
      <p:sp>
        <p:nvSpPr>
          <p:cNvPr id="5" name="Rounded Rectangle 4"/>
          <p:cNvSpPr/>
          <p:nvPr/>
        </p:nvSpPr>
        <p:spPr>
          <a:xfrm>
            <a:off x="731520" y="3931920"/>
            <a:ext cx="10698480" cy="146304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114800"/>
            <a:ext cx="10149840" cy="1097280"/>
          </a:xfrm>
          <a:prstGeom prst="rect">
            <a:avLst/>
          </a:prstGeom>
          <a:noFill/>
        </p:spPr>
        <p:txBody>
          <a:bodyPr wrap="square">
            <a:spAutoFit/>
          </a:bodyPr>
          <a:lstStyle/>
          <a:p>
            <a:pPr>
              <a:defRPr sz="1200" b="1">
                <a:solidFill>
                  <a:srgbClr val="06B6D4"/>
                </a:solidFill>
              </a:defRPr>
            </a:pPr>
            <a:r>
              <a:t>CORE VALUE PROPOSITION:</a:t>
            </a:r>
          </a:p>
          <a:p>
            <a:pPr>
              <a:defRPr sz="1400">
                <a:solidFill>
                  <a:srgbClr val="F8FAFC"/>
                </a:solidFill>
              </a:defRPr>
            </a:pPr>
            <a:r>
              <a:t>Bayora does not merely report that an AI security test passed. It connects the attack attempt, enforcement decision, observed outcome, and verifiable audit evidence into one traceable, cryptographically signed evaluation.</a:t>
            </a:r>
          </a:p>
        </p:txBody>
      </p:sp>
      <p:sp>
        <p:nvSpPr>
          <p:cNvPr id="7" name="TextBox 6"/>
          <p:cNvSpPr txBox="1"/>
          <p:nvPr/>
        </p:nvSpPr>
        <p:spPr>
          <a:xfrm>
            <a:off x="731520" y="5760720"/>
            <a:ext cx="10698480" cy="548640"/>
          </a:xfrm>
          <a:prstGeom prst="rect">
            <a:avLst/>
          </a:prstGeom>
          <a:noFill/>
        </p:spPr>
        <p:txBody>
          <a:bodyPr wrap="square">
            <a:spAutoFit/>
          </a:bodyPr>
          <a:lstStyle/>
          <a:p>
            <a:pPr>
              <a:defRPr sz="1200">
                <a:solidFill>
                  <a:srgbClr val="94A3B8"/>
                </a:solidFill>
              </a:defRPr>
            </a:pPr>
            <a:r>
              <a:t>Version 2.0 Master Specification  |  Offline-First  |  Deterministic Mock Target  |  Ed25519 Signed Ledger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INDUSTRY REALITY &amp; THE CORE VULNERABILITY</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The 'Trust Me' Blindspot in Modern AI Security</a:t>
            </a:r>
          </a:p>
          <a:p>
            <a:pPr>
              <a:defRPr sz="1300">
                <a:solidFill>
                  <a:srgbClr val="94A3B8"/>
                </a:solidFill>
              </a:defRPr>
            </a:pPr>
            <a:r>
              <a:t>Why current LLM guardrails fail enterprise audits and security verification</a:t>
            </a:r>
          </a:p>
        </p:txBody>
      </p:sp>
      <p:sp>
        <p:nvSpPr>
          <p:cNvPr id="5" name="Rounded Rectangle 4"/>
          <p:cNvSpPr/>
          <p:nvPr/>
        </p:nvSpPr>
        <p:spPr>
          <a:xfrm>
            <a:off x="731520" y="1645920"/>
            <a:ext cx="3383280" cy="347472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365760"/>
          </a:xfrm>
          <a:prstGeom prst="rect">
            <a:avLst/>
          </a:prstGeom>
          <a:noFill/>
        </p:spPr>
        <p:txBody>
          <a:bodyPr wrap="square" lIns="0" tIns="0" rIns="0" bIns="0">
            <a:spAutoFit/>
          </a:bodyPr>
          <a:lstStyle/>
          <a:p>
            <a:pPr>
              <a:defRPr sz="1500" b="1">
                <a:solidFill>
                  <a:srgbClr val="F8FAFC"/>
                </a:solidFill>
              </a:defRPr>
            </a:pPr>
            <a:r>
              <a:t>The Black-Box Fallacy</a:t>
            </a:r>
          </a:p>
        </p:txBody>
      </p:sp>
      <p:sp>
        <p:nvSpPr>
          <p:cNvPr id="7" name="TextBox 6"/>
          <p:cNvSpPr txBox="1"/>
          <p:nvPr/>
        </p:nvSpPr>
        <p:spPr>
          <a:xfrm>
            <a:off x="960120" y="2377440"/>
            <a:ext cx="2926080" cy="2560320"/>
          </a:xfrm>
          <a:prstGeom prst="rect">
            <a:avLst/>
          </a:prstGeom>
          <a:noFill/>
        </p:spPr>
        <p:txBody>
          <a:bodyPr wrap="square">
            <a:spAutoFit/>
          </a:bodyPr>
          <a:lstStyle/>
          <a:p>
            <a:pPr>
              <a:defRPr sz="1300">
                <a:solidFill>
                  <a:srgbClr val="94A3B8"/>
                </a:solidFill>
              </a:defRPr>
            </a:pPr>
            <a:r>
              <a:t>Traditional guardrails evaluate prompts and output a simple 'Pass' or 'Fail'. They cannot prove what happened behind the API, whether the model attempted a leak, or if execution was actually contained.</a:t>
            </a:r>
          </a:p>
        </p:txBody>
      </p:sp>
      <p:sp>
        <p:nvSpPr>
          <p:cNvPr id="8" name="Rounded Rectangle 7"/>
          <p:cNvSpPr/>
          <p:nvPr/>
        </p:nvSpPr>
        <p:spPr>
          <a:xfrm>
            <a:off x="4389120" y="1645920"/>
            <a:ext cx="3383280" cy="347472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926080" cy="365760"/>
          </a:xfrm>
          <a:prstGeom prst="rect">
            <a:avLst/>
          </a:prstGeom>
          <a:noFill/>
        </p:spPr>
        <p:txBody>
          <a:bodyPr wrap="square" lIns="0" tIns="0" rIns="0" bIns="0">
            <a:spAutoFit/>
          </a:bodyPr>
          <a:lstStyle/>
          <a:p>
            <a:pPr>
              <a:defRPr sz="1500" b="1">
                <a:solidFill>
                  <a:srgbClr val="F8FAFC"/>
                </a:solidFill>
              </a:defRPr>
            </a:pPr>
            <a:r>
              <a:t>The Interchangeability Trap</a:t>
            </a:r>
          </a:p>
        </p:txBody>
      </p:sp>
      <p:sp>
        <p:nvSpPr>
          <p:cNvPr id="10" name="TextBox 9"/>
          <p:cNvSpPr txBox="1"/>
          <p:nvPr/>
        </p:nvSpPr>
        <p:spPr>
          <a:xfrm>
            <a:off x="4617720" y="2377440"/>
            <a:ext cx="2926080" cy="2560320"/>
          </a:xfrm>
          <a:prstGeom prst="rect">
            <a:avLst/>
          </a:prstGeom>
          <a:noFill/>
        </p:spPr>
        <p:txBody>
          <a:bodyPr wrap="square">
            <a:spAutoFit/>
          </a:bodyPr>
          <a:lstStyle/>
          <a:p>
            <a:pPr>
              <a:defRPr sz="1300">
                <a:solidFill>
                  <a:srgbClr val="94A3B8"/>
                </a:solidFill>
              </a:defRPr>
            </a:pPr>
            <a:r>
              <a:t>Current tools dangerously conflate: (1) Detected Threat, (2) Blocked Request, (3) Redacted Response, (4) Denied Connection, and (5) Cryptographic Verification. These are distinct states that must never be mixed.</a:t>
            </a:r>
          </a:p>
        </p:txBody>
      </p:sp>
      <p:sp>
        <p:nvSpPr>
          <p:cNvPr id="11" name="Rounded Rectangle 10"/>
          <p:cNvSpPr/>
          <p:nvPr/>
        </p:nvSpPr>
        <p:spPr>
          <a:xfrm>
            <a:off x="8046720" y="1645920"/>
            <a:ext cx="3383280" cy="347472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926080" cy="365760"/>
          </a:xfrm>
          <a:prstGeom prst="rect">
            <a:avLst/>
          </a:prstGeom>
          <a:noFill/>
        </p:spPr>
        <p:txBody>
          <a:bodyPr wrap="square" lIns="0" tIns="0" rIns="0" bIns="0">
            <a:spAutoFit/>
          </a:bodyPr>
          <a:lstStyle/>
          <a:p>
            <a:pPr>
              <a:defRPr sz="1500" b="1">
                <a:solidFill>
                  <a:srgbClr val="F8FAFC"/>
                </a:solidFill>
              </a:defRPr>
            </a:pPr>
            <a:r>
              <a:t>Implicit Trust &amp; No Isolation</a:t>
            </a:r>
          </a:p>
        </p:txBody>
      </p:sp>
      <p:sp>
        <p:nvSpPr>
          <p:cNvPr id="13" name="TextBox 12"/>
          <p:cNvSpPr txBox="1"/>
          <p:nvPr/>
        </p:nvSpPr>
        <p:spPr>
          <a:xfrm>
            <a:off x="8275320" y="2377440"/>
            <a:ext cx="2926080" cy="2560320"/>
          </a:xfrm>
          <a:prstGeom prst="rect">
            <a:avLst/>
          </a:prstGeom>
          <a:noFill/>
        </p:spPr>
        <p:txBody>
          <a:bodyPr wrap="square">
            <a:spAutoFit/>
          </a:bodyPr>
          <a:lstStyle/>
          <a:p>
            <a:pPr>
              <a:defRPr sz="1300">
                <a:solidFill>
                  <a:srgbClr val="94A3B8"/>
                </a:solidFill>
              </a:defRPr>
            </a:pPr>
            <a:r>
              <a:t>Most AI security suites run with unrestricted outbound network access and full filesystem write permissions. When prompt injections succeed, the runtime environment provides zero defense-in-depth.</a:t>
            </a:r>
          </a:p>
        </p:txBody>
      </p:sp>
      <p:sp>
        <p:nvSpPr>
          <p:cNvPr id="14" name="Rounded Rectangle 13"/>
          <p:cNvSpPr/>
          <p:nvPr/>
        </p:nvSpPr>
        <p:spPr>
          <a:xfrm>
            <a:off x="731520" y="5394960"/>
            <a:ext cx="10698480" cy="868680"/>
          </a:xfrm>
          <a:prstGeom prst="roundRect">
            <a:avLst/>
          </a:prstGeom>
          <a:solidFill>
            <a:srgbClr val="101C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32720" cy="640080"/>
          </a:xfrm>
          <a:prstGeom prst="rect">
            <a:avLst/>
          </a:prstGeom>
          <a:noFill/>
        </p:spPr>
        <p:txBody>
          <a:bodyPr wrap="square">
            <a:spAutoFit/>
          </a:bodyPr>
          <a:lstStyle/>
          <a:p>
            <a:pPr>
              <a:defRPr sz="1300" b="1">
                <a:solidFill>
                  <a:srgbClr val="F8FAFC"/>
                </a:solidFill>
              </a:defRPr>
            </a:pPr>
            <a:r>
              <a:t>THE BAYORA PRINCIPLE: Evidence Over Appearance. If a security control cannot produce an independent, tamper-proof cryptographic audit trail, it is an opinion—not security.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SYSTEM SOLUTION</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Bayora's 5 Connected Pillars of Zero-Trust Security</a:t>
            </a:r>
          </a:p>
          <a:p>
            <a:pPr>
              <a:defRPr sz="1300">
                <a:solidFill>
                  <a:srgbClr val="94A3B8"/>
                </a:solidFill>
              </a:defRPr>
            </a:pPr>
            <a:r>
              <a:t>A coherent, closed-loop pipeline from controlled threat generation to cryptographic attestation</a:t>
            </a:r>
          </a:p>
        </p:txBody>
      </p:sp>
      <p:sp>
        <p:nvSpPr>
          <p:cNvPr id="5" name="Rounded Rectangle 4"/>
          <p:cNvSpPr/>
          <p:nvPr/>
        </p:nvSpPr>
        <p:spPr>
          <a:xfrm>
            <a:off x="731520" y="1645920"/>
            <a:ext cx="2057400" cy="448056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783080" cy="4114800"/>
          </a:xfrm>
          <a:prstGeom prst="rect">
            <a:avLst/>
          </a:prstGeom>
          <a:noFill/>
        </p:spPr>
        <p:txBody>
          <a:bodyPr wrap="square">
            <a:spAutoFit/>
          </a:bodyPr>
          <a:lstStyle/>
          <a:p>
            <a:pPr>
              <a:defRPr sz="1200" b="1">
                <a:solidFill>
                  <a:srgbClr val="EF4444"/>
                </a:solidFill>
              </a:defRPr>
            </a:pPr>
            <a:r>
              <a:t>1. Attack Simulation</a:t>
            </a:r>
          </a:p>
          <a:p>
            <a:pPr>
              <a:defRPr sz="1400" b="1">
                <a:solidFill>
                  <a:srgbClr val="F8FAFC"/>
                </a:solidFill>
              </a:defRPr>
            </a:pPr>
            <a:r>
              <a:t>Red Harness Engine</a:t>
            </a:r>
          </a:p>
          <a:p>
            <a:pPr>
              <a:defRPr sz="1100">
                <a:solidFill>
                  <a:srgbClr val="94A3B8"/>
                </a:solidFill>
              </a:defRPr>
            </a:pPr>
            <a:r>
              <a:t>Generates controlled, reproducible adversarial scenarios (prompt injection, canary probes, oversized payloads) with unique run_ids.</a:t>
            </a:r>
          </a:p>
        </p:txBody>
      </p:sp>
      <p:sp>
        <p:nvSpPr>
          <p:cNvPr id="7" name="Rounded Rectangle 6"/>
          <p:cNvSpPr/>
          <p:nvPr/>
        </p:nvSpPr>
        <p:spPr>
          <a:xfrm>
            <a:off x="2926080" y="1645920"/>
            <a:ext cx="2057400" cy="448056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828800"/>
            <a:ext cx="1783080" cy="4114800"/>
          </a:xfrm>
          <a:prstGeom prst="rect">
            <a:avLst/>
          </a:prstGeom>
          <a:noFill/>
        </p:spPr>
        <p:txBody>
          <a:bodyPr wrap="square">
            <a:spAutoFit/>
          </a:bodyPr>
          <a:lstStyle/>
          <a:p>
            <a:pPr>
              <a:defRPr sz="1200" b="1">
                <a:solidFill>
                  <a:srgbClr val="F59E0B"/>
                </a:solidFill>
              </a:defRPr>
            </a:pPr>
            <a:r>
              <a:t>2. Policy Enforcement</a:t>
            </a:r>
          </a:p>
          <a:p>
            <a:pPr>
              <a:defRPr sz="1400" b="1">
                <a:solidFill>
                  <a:srgbClr val="F8FAFC"/>
                </a:solidFill>
              </a:defRPr>
            </a:pPr>
            <a:r>
              <a:t>FastAPI Broker Boundary</a:t>
            </a:r>
          </a:p>
          <a:p>
            <a:pPr>
              <a:defRPr sz="1100">
                <a:solidFill>
                  <a:srgbClr val="94A3B8"/>
                </a:solidFill>
              </a:defRPr>
            </a:pPr>
            <a:r>
              <a:t>Strict typed Pydantic validation, explicit outbound destination allowlists, and guaranteed pre-release canary secret redaction.</a:t>
            </a:r>
          </a:p>
        </p:txBody>
      </p:sp>
      <p:sp>
        <p:nvSpPr>
          <p:cNvPr id="9" name="Rounded Rectangle 8"/>
          <p:cNvSpPr/>
          <p:nvPr/>
        </p:nvSpPr>
        <p:spPr>
          <a:xfrm>
            <a:off x="5120640" y="1645920"/>
            <a:ext cx="2057400" cy="448056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57800" y="1828800"/>
            <a:ext cx="1783080" cy="4114800"/>
          </a:xfrm>
          <a:prstGeom prst="rect">
            <a:avLst/>
          </a:prstGeom>
          <a:noFill/>
        </p:spPr>
        <p:txBody>
          <a:bodyPr wrap="square">
            <a:spAutoFit/>
          </a:bodyPr>
          <a:lstStyle/>
          <a:p>
            <a:pPr>
              <a:defRPr sz="1200" b="1">
                <a:solidFill>
                  <a:srgbClr val="06B6D4"/>
                </a:solidFill>
              </a:defRPr>
            </a:pPr>
            <a:r>
              <a:t>3. Runtime Containment</a:t>
            </a:r>
          </a:p>
          <a:p>
            <a:pPr>
              <a:defRPr sz="1400" b="1">
                <a:solidFill>
                  <a:srgbClr val="F8FAFC"/>
                </a:solidFill>
              </a:defRPr>
            </a:pPr>
            <a:r>
              <a:t>OS &amp; Container Hardening</a:t>
            </a:r>
          </a:p>
          <a:p>
            <a:pPr>
              <a:defRPr sz="1100">
                <a:solidFill>
                  <a:srgbClr val="94A3B8"/>
                </a:solidFill>
              </a:defRPr>
            </a:pPr>
            <a:r>
              <a:t>Enforces read-only root filesystems, dropped capabilities, non-root execution, and verifiable egress network denial.</a:t>
            </a:r>
          </a:p>
        </p:txBody>
      </p:sp>
      <p:sp>
        <p:nvSpPr>
          <p:cNvPr id="11" name="Rounded Rectangle 10"/>
          <p:cNvSpPr/>
          <p:nvPr/>
        </p:nvSpPr>
        <p:spPr>
          <a:xfrm>
            <a:off x="7315199" y="1645920"/>
            <a:ext cx="2057400" cy="448056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59" y="1828800"/>
            <a:ext cx="1783080" cy="4114800"/>
          </a:xfrm>
          <a:prstGeom prst="rect">
            <a:avLst/>
          </a:prstGeom>
          <a:noFill/>
        </p:spPr>
        <p:txBody>
          <a:bodyPr wrap="square">
            <a:spAutoFit/>
          </a:bodyPr>
          <a:lstStyle/>
          <a:p>
            <a:pPr>
              <a:defRPr sz="1200" b="1">
                <a:solidFill>
                  <a:srgbClr val="10B981"/>
                </a:solidFill>
              </a:defRPr>
            </a:pPr>
            <a:r>
              <a:t>4. Incident Visibility</a:t>
            </a:r>
          </a:p>
          <a:p>
            <a:pPr>
              <a:defRPr sz="1400" b="1">
                <a:solidFill>
                  <a:srgbClr val="F8FAFC"/>
                </a:solidFill>
              </a:defRPr>
            </a:pPr>
            <a:r>
              <a:t>Live Threat Interception HUD</a:t>
            </a:r>
          </a:p>
          <a:p>
            <a:pPr>
              <a:defRPr sz="1100">
                <a:solidFill>
                  <a:srgbClr val="94A3B8"/>
                </a:solidFill>
              </a:defRPr>
            </a:pPr>
            <a:r>
              <a:t>Real-time terminal stream displaying actual structured events, active incident statuses, and attacker-vs-target matrix.</a:t>
            </a:r>
          </a:p>
        </p:txBody>
      </p:sp>
      <p:sp>
        <p:nvSpPr>
          <p:cNvPr id="13" name="Rounded Rectangle 12"/>
          <p:cNvSpPr/>
          <p:nvPr/>
        </p:nvSpPr>
        <p:spPr>
          <a:xfrm>
            <a:off x="9509760" y="1645920"/>
            <a:ext cx="2057400" cy="448056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1828800"/>
            <a:ext cx="1783080" cy="4114800"/>
          </a:xfrm>
          <a:prstGeom prst="rect">
            <a:avLst/>
          </a:prstGeom>
          <a:noFill/>
        </p:spPr>
        <p:txBody>
          <a:bodyPr wrap="square">
            <a:spAutoFit/>
          </a:bodyPr>
          <a:lstStyle/>
          <a:p>
            <a:pPr>
              <a:defRPr sz="1200" b="1">
                <a:solidFill>
                  <a:srgbClr val="8B5CF6"/>
                </a:solidFill>
              </a:defRPr>
            </a:pPr>
            <a:r>
              <a:t>5. Evidence Verification</a:t>
            </a:r>
          </a:p>
          <a:p>
            <a:pPr>
              <a:defRPr sz="1400" b="1">
                <a:solidFill>
                  <a:srgbClr val="F8FAFC"/>
                </a:solidFill>
              </a:defRPr>
            </a:pPr>
            <a:r>
              <a:t>Hash Ledger &amp; Signatures</a:t>
            </a:r>
          </a:p>
          <a:p>
            <a:pPr>
              <a:defRPr sz="1100">
                <a:solidFill>
                  <a:srgbClr val="94A3B8"/>
                </a:solidFill>
              </a:defRPr>
            </a:pPr>
            <a:r>
              <a:t>SHA-256 hash-chained event blocks, tamper-proof verifier, Ed25519 signed checkpoints, and verifiable audit_report.json.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ENGINEERING MANIFESTO</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Core Architectural Principles</a:t>
            </a:r>
          </a:p>
          <a:p>
            <a:pPr>
              <a:defRPr sz="1300">
                <a:solidFill>
                  <a:srgbClr val="94A3B8"/>
                </a:solidFill>
              </a:defRPr>
            </a:pPr>
            <a:r>
              <a:t>The non-negotiable rules governing all Bayora design, code, and security assertions</a:t>
            </a:r>
          </a:p>
        </p:txBody>
      </p:sp>
      <p:sp>
        <p:nvSpPr>
          <p:cNvPr id="5" name="Rounded Rectangle 4"/>
          <p:cNvSpPr/>
          <p:nvPr/>
        </p:nvSpPr>
        <p:spPr>
          <a:xfrm>
            <a:off x="731520" y="1645920"/>
            <a:ext cx="3383280" cy="201168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365760"/>
          </a:xfrm>
          <a:prstGeom prst="rect">
            <a:avLst/>
          </a:prstGeom>
          <a:noFill/>
        </p:spPr>
        <p:txBody>
          <a:bodyPr wrap="square" lIns="0" tIns="0" rIns="0" bIns="0">
            <a:spAutoFit/>
          </a:bodyPr>
          <a:lstStyle/>
          <a:p>
            <a:pPr>
              <a:defRPr sz="1500" b="1">
                <a:solidFill>
                  <a:srgbClr val="F8FAFC"/>
                </a:solidFill>
              </a:defRPr>
            </a:pPr>
            <a:r>
              <a:t>Zero Trust by Default</a:t>
            </a:r>
          </a:p>
        </p:txBody>
      </p:sp>
      <p:sp>
        <p:nvSpPr>
          <p:cNvPr id="7" name="TextBox 6"/>
          <p:cNvSpPr txBox="1"/>
          <p:nvPr/>
        </p:nvSpPr>
        <p:spPr>
          <a:xfrm>
            <a:off x="960120" y="2240280"/>
            <a:ext cx="2926080" cy="1280160"/>
          </a:xfrm>
          <a:prstGeom prst="rect">
            <a:avLst/>
          </a:prstGeom>
          <a:noFill/>
        </p:spPr>
        <p:txBody>
          <a:bodyPr wrap="square">
            <a:spAutoFit/>
          </a:bodyPr>
          <a:lstStyle/>
          <a:p>
            <a:pPr>
              <a:defRPr sz="1200">
                <a:solidFill>
                  <a:srgbClr val="94A3B8"/>
                </a:solidFill>
              </a:defRPr>
            </a:pPr>
            <a:r>
              <a:t>Treat all requests, model outputs, and external destinations as completely untrusted until explicitly validated and authorized by policy.</a:t>
            </a:r>
          </a:p>
        </p:txBody>
      </p:sp>
      <p:sp>
        <p:nvSpPr>
          <p:cNvPr id="8" name="Rounded Rectangle 7"/>
          <p:cNvSpPr/>
          <p:nvPr/>
        </p:nvSpPr>
        <p:spPr>
          <a:xfrm>
            <a:off x="4389120" y="1645920"/>
            <a:ext cx="3383280" cy="201168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926080" cy="365760"/>
          </a:xfrm>
          <a:prstGeom prst="rect">
            <a:avLst/>
          </a:prstGeom>
          <a:noFill/>
        </p:spPr>
        <p:txBody>
          <a:bodyPr wrap="square" lIns="0" tIns="0" rIns="0" bIns="0">
            <a:spAutoFit/>
          </a:bodyPr>
          <a:lstStyle/>
          <a:p>
            <a:pPr>
              <a:defRPr sz="1500" b="1">
                <a:solidFill>
                  <a:srgbClr val="F8FAFC"/>
                </a:solidFill>
              </a:defRPr>
            </a:pPr>
            <a:r>
              <a:t>Offline-First &amp; Mock-First</a:t>
            </a:r>
          </a:p>
        </p:txBody>
      </p:sp>
      <p:sp>
        <p:nvSpPr>
          <p:cNvPr id="10" name="TextBox 9"/>
          <p:cNvSpPr txBox="1"/>
          <p:nvPr/>
        </p:nvSpPr>
        <p:spPr>
          <a:xfrm>
            <a:off x="4617720" y="2240280"/>
            <a:ext cx="2926080" cy="1280160"/>
          </a:xfrm>
          <a:prstGeom prst="rect">
            <a:avLst/>
          </a:prstGeom>
          <a:noFill/>
        </p:spPr>
        <p:txBody>
          <a:bodyPr wrap="square">
            <a:spAutoFit/>
          </a:bodyPr>
          <a:lstStyle/>
          <a:p>
            <a:pPr>
              <a:defRPr sz="1200">
                <a:solidFill>
                  <a:srgbClr val="94A3B8"/>
                </a:solidFill>
              </a:defRPr>
            </a:pPr>
            <a:r>
              <a:t>Core platform operates 100% offline with a deterministic mock target. Zero external API calls, zero unpredictable cloud delays, zero auto-downloads.</a:t>
            </a:r>
          </a:p>
        </p:txBody>
      </p:sp>
      <p:sp>
        <p:nvSpPr>
          <p:cNvPr id="11" name="Rounded Rectangle 10"/>
          <p:cNvSpPr/>
          <p:nvPr/>
        </p:nvSpPr>
        <p:spPr>
          <a:xfrm>
            <a:off x="8046720" y="1645920"/>
            <a:ext cx="3383280" cy="201168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926080" cy="365760"/>
          </a:xfrm>
          <a:prstGeom prst="rect">
            <a:avLst/>
          </a:prstGeom>
          <a:noFill/>
        </p:spPr>
        <p:txBody>
          <a:bodyPr wrap="square" lIns="0" tIns="0" rIns="0" bIns="0">
            <a:spAutoFit/>
          </a:bodyPr>
          <a:lstStyle/>
          <a:p>
            <a:pPr>
              <a:defRPr sz="1500" b="1">
                <a:solidFill>
                  <a:srgbClr val="F8FAFC"/>
                </a:solidFill>
              </a:defRPr>
            </a:pPr>
            <a:r>
              <a:t>Defense in Depth</a:t>
            </a:r>
          </a:p>
        </p:txBody>
      </p:sp>
      <p:sp>
        <p:nvSpPr>
          <p:cNvPr id="13" name="TextBox 12"/>
          <p:cNvSpPr txBox="1"/>
          <p:nvPr/>
        </p:nvSpPr>
        <p:spPr>
          <a:xfrm>
            <a:off x="8275320" y="2240280"/>
            <a:ext cx="2926080" cy="1280160"/>
          </a:xfrm>
          <a:prstGeom prst="rect">
            <a:avLst/>
          </a:prstGeom>
          <a:noFill/>
        </p:spPr>
        <p:txBody>
          <a:bodyPr wrap="square">
            <a:spAutoFit/>
          </a:bodyPr>
          <a:lstStyle/>
          <a:p>
            <a:pPr>
              <a:defRPr sz="1200">
                <a:solidFill>
                  <a:srgbClr val="94A3B8"/>
                </a:solidFill>
              </a:defRPr>
            </a:pPr>
            <a:r>
              <a:t>Four separate, independent layers: (1) Application Schema, (2) Broker Policy, (3) OS/Container Isolation, (4) Cryptographic Audit Verification.</a:t>
            </a:r>
          </a:p>
        </p:txBody>
      </p:sp>
      <p:sp>
        <p:nvSpPr>
          <p:cNvPr id="14" name="Rounded Rectangle 13"/>
          <p:cNvSpPr/>
          <p:nvPr/>
        </p:nvSpPr>
        <p:spPr>
          <a:xfrm>
            <a:off x="731520" y="3931920"/>
            <a:ext cx="3383280" cy="201168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14800"/>
            <a:ext cx="2926080" cy="365760"/>
          </a:xfrm>
          <a:prstGeom prst="rect">
            <a:avLst/>
          </a:prstGeom>
          <a:noFill/>
        </p:spPr>
        <p:txBody>
          <a:bodyPr wrap="square" lIns="0" tIns="0" rIns="0" bIns="0">
            <a:spAutoFit/>
          </a:bodyPr>
          <a:lstStyle/>
          <a:p>
            <a:pPr>
              <a:defRPr sz="1500" b="1">
                <a:solidFill>
                  <a:srgbClr val="F8FAFC"/>
                </a:solidFill>
              </a:defRPr>
            </a:pPr>
            <a:r>
              <a:t>Fail Closed</a:t>
            </a:r>
          </a:p>
        </p:txBody>
      </p:sp>
      <p:sp>
        <p:nvSpPr>
          <p:cNvPr id="16" name="TextBox 15"/>
          <p:cNvSpPr txBox="1"/>
          <p:nvPr/>
        </p:nvSpPr>
        <p:spPr>
          <a:xfrm>
            <a:off x="960120" y="4526280"/>
            <a:ext cx="2926080" cy="1280160"/>
          </a:xfrm>
          <a:prstGeom prst="rect">
            <a:avLst/>
          </a:prstGeom>
          <a:noFill/>
        </p:spPr>
        <p:txBody>
          <a:bodyPr wrap="square">
            <a:spAutoFit/>
          </a:bodyPr>
          <a:lstStyle/>
          <a:p>
            <a:pPr>
              <a:defRPr sz="1200">
                <a:solidFill>
                  <a:srgbClr val="94A3B8"/>
                </a:solidFill>
              </a:defRPr>
            </a:pPr>
            <a:r>
              <a:t>When a policy check, verification step, or containment test cannot complete, the system strictly halts or reports failure. Never defaults to success.</a:t>
            </a:r>
          </a:p>
        </p:txBody>
      </p:sp>
      <p:sp>
        <p:nvSpPr>
          <p:cNvPr id="17" name="Rounded Rectangle 16"/>
          <p:cNvSpPr/>
          <p:nvPr/>
        </p:nvSpPr>
        <p:spPr>
          <a:xfrm>
            <a:off x="4389120" y="3931920"/>
            <a:ext cx="3383280" cy="201168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114800"/>
            <a:ext cx="2926080" cy="365760"/>
          </a:xfrm>
          <a:prstGeom prst="rect">
            <a:avLst/>
          </a:prstGeom>
          <a:noFill/>
        </p:spPr>
        <p:txBody>
          <a:bodyPr wrap="square" lIns="0" tIns="0" rIns="0" bIns="0">
            <a:spAutoFit/>
          </a:bodyPr>
          <a:lstStyle/>
          <a:p>
            <a:pPr>
              <a:defRPr sz="1500" b="1">
                <a:solidFill>
                  <a:srgbClr val="F8FAFC"/>
                </a:solidFill>
              </a:defRPr>
            </a:pPr>
            <a:r>
              <a:t>Evidence Over Appearance</a:t>
            </a:r>
          </a:p>
        </p:txBody>
      </p:sp>
      <p:sp>
        <p:nvSpPr>
          <p:cNvPr id="19" name="TextBox 18"/>
          <p:cNvSpPr txBox="1"/>
          <p:nvPr/>
        </p:nvSpPr>
        <p:spPr>
          <a:xfrm>
            <a:off x="4617720" y="4526280"/>
            <a:ext cx="2926080" cy="1280160"/>
          </a:xfrm>
          <a:prstGeom prst="rect">
            <a:avLst/>
          </a:prstGeom>
          <a:noFill/>
        </p:spPr>
        <p:txBody>
          <a:bodyPr wrap="square">
            <a:spAutoFit/>
          </a:bodyPr>
          <a:lstStyle/>
          <a:p>
            <a:pPr>
              <a:defRPr sz="1200">
                <a:solidFill>
                  <a:srgbClr val="94A3B8"/>
                </a:solidFill>
              </a:defRPr>
            </a:pPr>
            <a:r>
              <a:t>Every security claim must be backed by an executable test and immutable artifact. No hardcoded success states or cosmetic metrics.</a:t>
            </a:r>
          </a:p>
        </p:txBody>
      </p:sp>
      <p:sp>
        <p:nvSpPr>
          <p:cNvPr id="20" name="Rounded Rectangle 19"/>
          <p:cNvSpPr/>
          <p:nvPr/>
        </p:nvSpPr>
        <p:spPr>
          <a:xfrm>
            <a:off x="8046720" y="3931920"/>
            <a:ext cx="3383280" cy="2011680"/>
          </a:xfrm>
          <a:prstGeom prst="roundRect">
            <a:avLst/>
          </a:prstGeom>
          <a:solidFill>
            <a:srgbClr val="131A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114800"/>
            <a:ext cx="2926080" cy="365760"/>
          </a:xfrm>
          <a:prstGeom prst="rect">
            <a:avLst/>
          </a:prstGeom>
          <a:noFill/>
        </p:spPr>
        <p:txBody>
          <a:bodyPr wrap="square" lIns="0" tIns="0" rIns="0" bIns="0">
            <a:spAutoFit/>
          </a:bodyPr>
          <a:lstStyle/>
          <a:p>
            <a:pPr>
              <a:defRPr sz="1500" b="1">
                <a:solidFill>
                  <a:srgbClr val="F8FAFC"/>
                </a:solidFill>
              </a:defRPr>
            </a:pPr>
            <a:r>
              <a:t>Truthful &amp; Honest Reporting</a:t>
            </a:r>
          </a:p>
        </p:txBody>
      </p:sp>
      <p:sp>
        <p:nvSpPr>
          <p:cNvPr id="22" name="TextBox 21"/>
          <p:cNvSpPr txBox="1"/>
          <p:nvPr/>
        </p:nvSpPr>
        <p:spPr>
          <a:xfrm>
            <a:off x="8275320" y="4526280"/>
            <a:ext cx="2926080" cy="1280160"/>
          </a:xfrm>
          <a:prstGeom prst="rect">
            <a:avLst/>
          </a:prstGeom>
          <a:noFill/>
        </p:spPr>
        <p:txBody>
          <a:bodyPr wrap="square">
            <a:spAutoFit/>
          </a:bodyPr>
          <a:lstStyle/>
          <a:p>
            <a:pPr>
              <a:defRPr sz="1200">
                <a:solidFill>
                  <a:srgbClr val="94A3B8"/>
                </a:solidFill>
              </a:defRPr>
            </a:pPr>
            <a:r>
              <a:t>Failed, skipped, or unsupported tests (e.g. Docker unavailable) are represented honestly. We never inflate statistics or hide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TECHNICAL BLUEPRINT</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Component Architecture &amp; Data Boundary</a:t>
            </a:r>
          </a:p>
          <a:p>
            <a:pPr>
              <a:defRPr sz="1300">
                <a:solidFill>
                  <a:srgbClr val="94A3B8"/>
                </a:solidFill>
              </a:defRPr>
            </a:pPr>
            <a:r>
              <a:t>End-to-end request lifecycle and separation of responsibilities</a:t>
            </a:r>
          </a:p>
        </p:txBody>
      </p:sp>
      <p:sp>
        <p:nvSpPr>
          <p:cNvPr id="5" name="Rounded Rectangle 4"/>
          <p:cNvSpPr/>
          <p:nvPr/>
        </p:nvSpPr>
        <p:spPr>
          <a:xfrm>
            <a:off x="731520" y="1645920"/>
            <a:ext cx="2468880" cy="438912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74519"/>
            <a:ext cx="2103120" cy="3931920"/>
          </a:xfrm>
          <a:prstGeom prst="rect">
            <a:avLst/>
          </a:prstGeom>
          <a:noFill/>
        </p:spPr>
        <p:txBody>
          <a:bodyPr wrap="square">
            <a:spAutoFit/>
          </a:bodyPr>
          <a:lstStyle/>
          <a:p>
            <a:pPr>
              <a:defRPr sz="1500" b="1">
                <a:solidFill>
                  <a:srgbClr val="EF4444"/>
                </a:solidFill>
              </a:defRPr>
            </a:pPr>
            <a:r>
              <a:t>RED HARNESS</a:t>
            </a:r>
          </a:p>
          <a:p>
            <a:pPr>
              <a:defRPr sz="1100">
                <a:solidFill>
                  <a:srgbClr val="94A3B8"/>
                </a:solidFill>
              </a:defRPr>
            </a:pPr>
            <a:r>
              <a:t>Adversarial Generator</a:t>
            </a:r>
          </a:p>
          <a:p>
            <a:pPr>
              <a:defRPr sz="1100">
                <a:solidFill>
                  <a:srgbClr val="F8FAFC"/>
                </a:solidFill>
              </a:defRPr>
            </a:pPr>
            <a:r>
              <a:t>• Assigns unique run_id</a:t>
            </a:r>
          </a:p>
          <a:p>
            <a:pPr>
              <a:defRPr sz="1100">
                <a:solidFill>
                  <a:srgbClr val="F8FAFC"/>
                </a:solidFill>
              </a:defRPr>
            </a:pPr>
            <a:r>
              <a:t>• Injects prompt attacks</a:t>
            </a:r>
          </a:p>
          <a:p>
            <a:pPr>
              <a:defRPr sz="1100">
                <a:solidFill>
                  <a:srgbClr val="F8FAFC"/>
                </a:solidFill>
              </a:defRPr>
            </a:pPr>
            <a:r>
              <a:t>• Canary extraction probes</a:t>
            </a:r>
          </a:p>
          <a:p>
            <a:pPr>
              <a:defRPr sz="1100">
                <a:solidFill>
                  <a:srgbClr val="F8FAFC"/>
                </a:solidFill>
              </a:defRPr>
            </a:pPr>
            <a:r>
              <a:t>• Records expected outcome</a:t>
            </a:r>
          </a:p>
        </p:txBody>
      </p:sp>
      <p:sp>
        <p:nvSpPr>
          <p:cNvPr id="7" name="Rounded Rectangle 6"/>
          <p:cNvSpPr/>
          <p:nvPr/>
        </p:nvSpPr>
        <p:spPr>
          <a:xfrm>
            <a:off x="3474720" y="1645920"/>
            <a:ext cx="2560320" cy="438912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74519"/>
            <a:ext cx="2194560" cy="3931920"/>
          </a:xfrm>
          <a:prstGeom prst="rect">
            <a:avLst/>
          </a:prstGeom>
          <a:noFill/>
        </p:spPr>
        <p:txBody>
          <a:bodyPr wrap="square">
            <a:spAutoFit/>
          </a:bodyPr>
          <a:lstStyle/>
          <a:p>
            <a:pPr>
              <a:defRPr sz="1500" b="1">
                <a:solidFill>
                  <a:srgbClr val="F59E0B"/>
                </a:solidFill>
              </a:defRPr>
            </a:pPr>
            <a:r>
              <a:t>FASTAPI BROKER</a:t>
            </a:r>
          </a:p>
          <a:p>
            <a:pPr>
              <a:defRPr sz="1100">
                <a:solidFill>
                  <a:srgbClr val="94A3B8"/>
                </a:solidFill>
              </a:defRPr>
            </a:pPr>
            <a:r>
              <a:t>Policy Enforcement Gateway</a:t>
            </a:r>
          </a:p>
          <a:p>
            <a:pPr>
              <a:defRPr sz="1100">
                <a:solidFill>
                  <a:srgbClr val="F8FAFC"/>
                </a:solidFill>
              </a:defRPr>
            </a:pPr>
            <a:r>
              <a:t>• Pydantic typed validation</a:t>
            </a:r>
          </a:p>
          <a:p>
            <a:pPr>
              <a:defRPr sz="1100">
                <a:solidFill>
                  <a:srgbClr val="F8FAFC"/>
                </a:solidFill>
              </a:defRPr>
            </a:pPr>
            <a:r>
              <a:t>• Strict destination allowlists</a:t>
            </a:r>
          </a:p>
          <a:p>
            <a:pPr>
              <a:defRPr sz="1100">
                <a:solidFill>
                  <a:srgbClr val="F8FAFC"/>
                </a:solidFill>
              </a:defRPr>
            </a:pPr>
            <a:r>
              <a:t>• Pre-release canary redaction</a:t>
            </a:r>
          </a:p>
          <a:p>
            <a:pPr>
              <a:defRPr sz="1100">
                <a:solidFill>
                  <a:srgbClr val="F8FAFC"/>
                </a:solidFill>
              </a:defRPr>
            </a:pPr>
            <a:r>
              <a:t>• Emits structured audit events</a:t>
            </a:r>
          </a:p>
          <a:p>
            <a:pPr>
              <a:defRPr sz="1100">
                <a:solidFill>
                  <a:srgbClr val="F8FAFC"/>
                </a:solidFill>
              </a:defRPr>
            </a:pPr>
            <a:r>
              <a:t>• Bounded timeouts &amp; resources</a:t>
            </a:r>
          </a:p>
        </p:txBody>
      </p:sp>
      <p:sp>
        <p:nvSpPr>
          <p:cNvPr id="9" name="Rounded Rectangle 8"/>
          <p:cNvSpPr/>
          <p:nvPr/>
        </p:nvSpPr>
        <p:spPr>
          <a:xfrm>
            <a:off x="6309360" y="1645920"/>
            <a:ext cx="2468880" cy="438912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74519"/>
            <a:ext cx="2103120" cy="3931920"/>
          </a:xfrm>
          <a:prstGeom prst="rect">
            <a:avLst/>
          </a:prstGeom>
          <a:noFill/>
        </p:spPr>
        <p:txBody>
          <a:bodyPr wrap="square">
            <a:spAutoFit/>
          </a:bodyPr>
          <a:lstStyle/>
          <a:p>
            <a:pPr>
              <a:defRPr sz="1500" b="1">
                <a:solidFill>
                  <a:srgbClr val="06B6D4"/>
                </a:solidFill>
              </a:defRPr>
            </a:pPr>
            <a:r>
              <a:t>CONTAINED TARGET</a:t>
            </a:r>
          </a:p>
          <a:p>
            <a:pPr>
              <a:defRPr sz="1100">
                <a:solidFill>
                  <a:srgbClr val="94A3B8"/>
                </a:solidFill>
              </a:defRPr>
            </a:pPr>
            <a:r>
              <a:t>Deterministic Mock AI</a:t>
            </a:r>
          </a:p>
          <a:p>
            <a:pPr>
              <a:defRPr sz="1100">
                <a:solidFill>
                  <a:srgbClr val="F8FAFC"/>
                </a:solidFill>
              </a:defRPr>
            </a:pPr>
            <a:r>
              <a:t>• Runs in isolated container</a:t>
            </a:r>
          </a:p>
          <a:p>
            <a:pPr>
              <a:defRPr sz="1100">
                <a:solidFill>
                  <a:srgbClr val="F8FAFC"/>
                </a:solidFill>
              </a:defRPr>
            </a:pPr>
            <a:r>
              <a:t>• Read-only root filesystem</a:t>
            </a:r>
          </a:p>
          <a:p>
            <a:pPr>
              <a:defRPr sz="1100">
                <a:solidFill>
                  <a:srgbClr val="F8FAFC"/>
                </a:solidFill>
              </a:defRPr>
            </a:pPr>
            <a:r>
              <a:t>• Zero outbound egress network</a:t>
            </a:r>
          </a:p>
          <a:p>
            <a:pPr>
              <a:defRPr sz="1100">
                <a:solidFill>
                  <a:srgbClr val="F8FAFC"/>
                </a:solidFill>
              </a:defRPr>
            </a:pPr>
            <a:r>
              <a:t>• Simulates benign/leak/error</a:t>
            </a:r>
          </a:p>
          <a:p>
            <a:pPr>
              <a:defRPr sz="1100">
                <a:solidFill>
                  <a:srgbClr val="F8FAFC"/>
                </a:solidFill>
              </a:defRPr>
            </a:pPr>
            <a:r>
              <a:t>• Optional local Ollama model</a:t>
            </a:r>
          </a:p>
        </p:txBody>
      </p:sp>
      <p:sp>
        <p:nvSpPr>
          <p:cNvPr id="11" name="Rounded Rectangle 10"/>
          <p:cNvSpPr/>
          <p:nvPr/>
        </p:nvSpPr>
        <p:spPr>
          <a:xfrm>
            <a:off x="9052560" y="1645920"/>
            <a:ext cx="2377440" cy="438912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0" y="1874519"/>
            <a:ext cx="2011680" cy="3931920"/>
          </a:xfrm>
          <a:prstGeom prst="rect">
            <a:avLst/>
          </a:prstGeom>
          <a:noFill/>
        </p:spPr>
        <p:txBody>
          <a:bodyPr wrap="square">
            <a:spAutoFit/>
          </a:bodyPr>
          <a:lstStyle/>
          <a:p>
            <a:pPr>
              <a:defRPr sz="1500" b="1">
                <a:solidFill>
                  <a:srgbClr val="8B5CF6"/>
                </a:solidFill>
              </a:defRPr>
            </a:pPr>
            <a:r>
              <a:t>AUDIT VERIFIER</a:t>
            </a:r>
          </a:p>
          <a:p>
            <a:pPr>
              <a:defRPr sz="1100">
                <a:solidFill>
                  <a:srgbClr val="94A3B8"/>
                </a:solidFill>
              </a:defRPr>
            </a:pPr>
            <a:r>
              <a:t>Cryptographic Ledger</a:t>
            </a:r>
          </a:p>
          <a:p>
            <a:pPr>
              <a:defRPr sz="1100">
                <a:solidFill>
                  <a:srgbClr val="F8FAFC"/>
                </a:solidFill>
              </a:defRPr>
            </a:pPr>
            <a:r>
              <a:t>• Canonical event hashing</a:t>
            </a:r>
          </a:p>
          <a:p>
            <a:pPr>
              <a:defRPr sz="1100">
                <a:solidFill>
                  <a:srgbClr val="F8FAFC"/>
                </a:solidFill>
              </a:defRPr>
            </a:pPr>
            <a:r>
              <a:t>• SHA-256 chain (prev-&gt;curr)</a:t>
            </a:r>
          </a:p>
          <a:p>
            <a:pPr>
              <a:defRPr sz="1100">
                <a:solidFill>
                  <a:srgbClr val="F8FAFC"/>
                </a:solidFill>
              </a:defRPr>
            </a:pPr>
            <a:r>
              <a:t>• Ed25519 signed checkpoints</a:t>
            </a:r>
          </a:p>
          <a:p>
            <a:pPr>
              <a:defRPr sz="1100">
                <a:solidFill>
                  <a:srgbClr val="F8FAFC"/>
                </a:solidFill>
              </a:defRPr>
            </a:pPr>
            <a:r>
              <a:t>• Independent verification CLI</a:t>
            </a:r>
          </a:p>
          <a:p>
            <a:pPr>
              <a:defRPr sz="1100">
                <a:solidFill>
                  <a:srgbClr val="F8FAFC"/>
                </a:solidFill>
              </a:defRPr>
            </a:pPr>
            <a:r>
              <a:t>• Exports audit_report.json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OFFENSIVE ENGINE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The Red Harness: Reproducible Threat Scenarios</a:t>
            </a:r>
          </a:p>
          <a:p>
            <a:pPr>
              <a:defRPr sz="1300">
                <a:solidFill>
                  <a:srgbClr val="94A3B8"/>
                </a:solidFill>
              </a:defRPr>
            </a:pPr>
            <a:r>
              <a:t>Automated adversarial catalog testing every security layer</a:t>
            </a: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560320"/>
                <a:gridCol w="3931920"/>
                <a:gridCol w="2011680"/>
                <a:gridCol w="1280160"/>
                <a:gridCol w="914400"/>
              </a:tblGrid>
              <a:tr h="627017">
                <a:tc>
                  <a:txBody>
                    <a:bodyPr/>
                    <a:lstStyle/>
                    <a:p>
                      <a:pPr>
                        <a:defRPr sz="1200" b="1">
                          <a:solidFill>
                            <a:srgbClr val="06B6D4"/>
                          </a:solidFill>
                        </a:defRPr>
                      </a:pPr>
                      <a:r>
                        <a:t>Scenario Identifier</a:t>
                      </a:r>
                    </a:p>
                  </a:txBody>
                  <a:tcPr>
                    <a:solidFill>
                      <a:srgbClr val="131A2A"/>
                    </a:solidFill>
                  </a:tcPr>
                </a:tc>
                <a:tc>
                  <a:txBody>
                    <a:bodyPr/>
                    <a:lstStyle/>
                    <a:p>
                      <a:pPr>
                        <a:defRPr sz="1200" b="1">
                          <a:solidFill>
                            <a:srgbClr val="06B6D4"/>
                          </a:solidFill>
                        </a:defRPr>
                      </a:pPr>
                      <a:r>
                        <a:t>Adversarial Objective</a:t>
                      </a:r>
                    </a:p>
                  </a:txBody>
                  <a:tcPr>
                    <a:solidFill>
                      <a:srgbClr val="131A2A"/>
                    </a:solidFill>
                  </a:tcPr>
                </a:tc>
                <a:tc>
                  <a:txBody>
                    <a:bodyPr/>
                    <a:lstStyle/>
                    <a:p>
                      <a:pPr>
                        <a:defRPr sz="1200" b="1">
                          <a:solidFill>
                            <a:srgbClr val="06B6D4"/>
                          </a:solidFill>
                        </a:defRPr>
                      </a:pPr>
                      <a:r>
                        <a:t>Target Control</a:t>
                      </a:r>
                    </a:p>
                  </a:txBody>
                  <a:tcPr>
                    <a:solidFill>
                      <a:srgbClr val="131A2A"/>
                    </a:solidFill>
                  </a:tcPr>
                </a:tc>
                <a:tc>
                  <a:txBody>
                    <a:bodyPr/>
                    <a:lstStyle/>
                    <a:p>
                      <a:pPr>
                        <a:defRPr sz="1200" b="1">
                          <a:solidFill>
                            <a:srgbClr val="06B6D4"/>
                          </a:solidFill>
                        </a:defRPr>
                      </a:pPr>
                      <a:r>
                        <a:t>Expected</a:t>
                      </a:r>
                    </a:p>
                  </a:txBody>
                  <a:tcPr>
                    <a:solidFill>
                      <a:srgbClr val="131A2A"/>
                    </a:solidFill>
                  </a:tcPr>
                </a:tc>
                <a:tc>
                  <a:txBody>
                    <a:bodyPr/>
                    <a:lstStyle/>
                    <a:p>
                      <a:pPr>
                        <a:defRPr sz="1200" b="1">
                          <a:solidFill>
                            <a:srgbClr val="06B6D4"/>
                          </a:solidFill>
                        </a:defRPr>
                      </a:pPr>
                      <a:r>
                        <a:t>Result</a:t>
                      </a:r>
                    </a:p>
                  </a:txBody>
                  <a:tcPr>
                    <a:solidFill>
                      <a:srgbClr val="131A2A"/>
                    </a:solidFill>
                  </a:tcPr>
                </a:tc>
              </a:tr>
              <a:tr h="627017">
                <a:tc>
                  <a:txBody>
                    <a:bodyPr/>
                    <a:lstStyle/>
                    <a:p>
                      <a:pPr>
                        <a:defRPr sz="1100">
                          <a:solidFill>
                            <a:srgbClr val="F8FAFC"/>
                          </a:solidFill>
                        </a:defRPr>
                      </a:pPr>
                      <a:r>
                        <a:t>SCN-01: Direct Prompt Injection</a:t>
                      </a:r>
                    </a:p>
                  </a:txBody>
                  <a:tcPr>
                    <a:solidFill>
                      <a:srgbClr val="0E1420"/>
                    </a:solidFill>
                  </a:tcPr>
                </a:tc>
                <a:tc>
                  <a:txBody>
                    <a:bodyPr/>
                    <a:lstStyle/>
                    <a:p>
                      <a:pPr>
                        <a:defRPr sz="1100">
                          <a:solidFill>
                            <a:srgbClr val="F8FAFC"/>
                          </a:solidFill>
                        </a:defRPr>
                      </a:pPr>
                      <a:r>
                        <a:t>Attempts to override system instructions with jailbreaks and bypass prefixes.</a:t>
                      </a:r>
                    </a:p>
                  </a:txBody>
                  <a:tcPr>
                    <a:solidFill>
                      <a:srgbClr val="0E1420"/>
                    </a:solidFill>
                  </a:tcPr>
                </a:tc>
                <a:tc>
                  <a:txBody>
                    <a:bodyPr/>
                    <a:lstStyle/>
                    <a:p>
                      <a:pPr>
                        <a:defRPr sz="1100">
                          <a:solidFill>
                            <a:srgbClr val="F8FAFC"/>
                          </a:solidFill>
                        </a:defRPr>
                      </a:pPr>
                      <a:r>
                        <a:t>Broker Policy Filter</a:t>
                      </a:r>
                    </a:p>
                  </a:txBody>
                  <a:tcPr>
                    <a:solidFill>
                      <a:srgbClr val="0E1420"/>
                    </a:solidFill>
                  </a:tcPr>
                </a:tc>
                <a:tc>
                  <a:txBody>
                    <a:bodyPr/>
                    <a:lstStyle/>
                    <a:p>
                      <a:pPr>
                        <a:defRPr sz="1100">
                          <a:solidFill>
                            <a:srgbClr val="06B6D4"/>
                          </a:solidFill>
                        </a:defRPr>
                      </a:pPr>
                      <a:r>
                        <a:t>PASS (Blocked)</a:t>
                      </a:r>
                    </a:p>
                  </a:txBody>
                  <a:tcPr>
                    <a:solidFill>
                      <a:srgbClr val="0E1420"/>
                    </a:solidFill>
                  </a:tcPr>
                </a:tc>
                <a:tc>
                  <a:txBody>
                    <a:bodyPr/>
                    <a:lstStyle/>
                    <a:p>
                      <a:pPr>
                        <a:defRPr sz="1100">
                          <a:solidFill>
                            <a:srgbClr val="06B6D4"/>
                          </a:solidFill>
                        </a:defRPr>
                      </a:pPr>
                      <a:r>
                        <a:t>PASS</a:t>
                      </a:r>
                    </a:p>
                  </a:txBody>
                  <a:tcPr>
                    <a:solidFill>
                      <a:srgbClr val="0E1420"/>
                    </a:solidFill>
                  </a:tcPr>
                </a:tc>
              </a:tr>
              <a:tr h="627017">
                <a:tc>
                  <a:txBody>
                    <a:bodyPr/>
                    <a:lstStyle/>
                    <a:p>
                      <a:pPr>
                        <a:defRPr sz="1100">
                          <a:solidFill>
                            <a:srgbClr val="F8FAFC"/>
                          </a:solidFill>
                        </a:defRPr>
                      </a:pPr>
                      <a:r>
                        <a:t>SCN-02: Synthetic Canary Extraction</a:t>
                      </a:r>
                    </a:p>
                  </a:txBody>
                  <a:tcPr>
                    <a:solidFill>
                      <a:srgbClr val="0E1420"/>
                    </a:solidFill>
                  </a:tcPr>
                </a:tc>
                <a:tc>
                  <a:txBody>
                    <a:bodyPr/>
                    <a:lstStyle/>
                    <a:p>
                      <a:pPr>
                        <a:defRPr sz="1100">
                          <a:solidFill>
                            <a:srgbClr val="F8FAFC"/>
                          </a:solidFill>
                        </a:defRPr>
                      </a:pPr>
                      <a:r>
                        <a:t>Attempts to extract synthetic high-entropy canary secret from model memory.</a:t>
                      </a:r>
                    </a:p>
                  </a:txBody>
                  <a:tcPr>
                    <a:solidFill>
                      <a:srgbClr val="0E1420"/>
                    </a:solidFill>
                  </a:tcPr>
                </a:tc>
                <a:tc>
                  <a:txBody>
                    <a:bodyPr/>
                    <a:lstStyle/>
                    <a:p>
                      <a:pPr>
                        <a:defRPr sz="1100">
                          <a:solidFill>
                            <a:srgbClr val="F8FAFC"/>
                          </a:solidFill>
                        </a:defRPr>
                      </a:pPr>
                      <a:r>
                        <a:t>Pre-Release Redaction</a:t>
                      </a:r>
                    </a:p>
                  </a:txBody>
                  <a:tcPr>
                    <a:solidFill>
                      <a:srgbClr val="0E1420"/>
                    </a:solidFill>
                  </a:tcPr>
                </a:tc>
                <a:tc>
                  <a:txBody>
                    <a:bodyPr/>
                    <a:lstStyle/>
                    <a:p>
                      <a:pPr>
                        <a:defRPr sz="1100">
                          <a:solidFill>
                            <a:srgbClr val="10B981"/>
                          </a:solidFill>
                        </a:defRPr>
                      </a:pPr>
                      <a:r>
                        <a:t>PASS (Redacted)</a:t>
                      </a:r>
                    </a:p>
                  </a:txBody>
                  <a:tcPr>
                    <a:solidFill>
                      <a:srgbClr val="0E1420"/>
                    </a:solidFill>
                  </a:tcPr>
                </a:tc>
                <a:tc>
                  <a:txBody>
                    <a:bodyPr/>
                    <a:lstStyle/>
                    <a:p>
                      <a:pPr>
                        <a:defRPr sz="1100">
                          <a:solidFill>
                            <a:srgbClr val="10B981"/>
                          </a:solidFill>
                        </a:defRPr>
                      </a:pPr>
                      <a:r>
                        <a:t>PASS</a:t>
                      </a:r>
                    </a:p>
                  </a:txBody>
                  <a:tcPr>
                    <a:solidFill>
                      <a:srgbClr val="0E1420"/>
                    </a:solidFill>
                  </a:tcPr>
                </a:tc>
              </a:tr>
              <a:tr h="627017">
                <a:tc>
                  <a:txBody>
                    <a:bodyPr/>
                    <a:lstStyle/>
                    <a:p>
                      <a:pPr>
                        <a:defRPr sz="1100">
                          <a:solidFill>
                            <a:srgbClr val="F8FAFC"/>
                          </a:solidFill>
                        </a:defRPr>
                      </a:pPr>
                      <a:r>
                        <a:t>SCN-03: Malformed &amp; Oversized Schema</a:t>
                      </a:r>
                    </a:p>
                  </a:txBody>
                  <a:tcPr>
                    <a:solidFill>
                      <a:srgbClr val="0E1420"/>
                    </a:solidFill>
                  </a:tcPr>
                </a:tc>
                <a:tc>
                  <a:txBody>
                    <a:bodyPr/>
                    <a:lstStyle/>
                    <a:p>
                      <a:pPr>
                        <a:defRPr sz="1100">
                          <a:solidFill>
                            <a:srgbClr val="F8FAFC"/>
                          </a:solidFill>
                        </a:defRPr>
                      </a:pPr>
                      <a:r>
                        <a:t>Submits corrupted JSON payloads and oversized buffers exceeding 5MB.</a:t>
                      </a:r>
                    </a:p>
                  </a:txBody>
                  <a:tcPr>
                    <a:solidFill>
                      <a:srgbClr val="0E1420"/>
                    </a:solidFill>
                  </a:tcPr>
                </a:tc>
                <a:tc>
                  <a:txBody>
                    <a:bodyPr/>
                    <a:lstStyle/>
                    <a:p>
                      <a:pPr>
                        <a:defRPr sz="1100">
                          <a:solidFill>
                            <a:srgbClr val="F8FAFC"/>
                          </a:solidFill>
                        </a:defRPr>
                      </a:pPr>
                      <a:r>
                        <a:t>Pydantic Validator</a:t>
                      </a:r>
                    </a:p>
                  </a:txBody>
                  <a:tcPr>
                    <a:solidFill>
                      <a:srgbClr val="0E1420"/>
                    </a:solidFill>
                  </a:tcPr>
                </a:tc>
                <a:tc>
                  <a:txBody>
                    <a:bodyPr/>
                    <a:lstStyle/>
                    <a:p>
                      <a:pPr>
                        <a:defRPr sz="1100">
                          <a:solidFill>
                            <a:srgbClr val="06B6D4"/>
                          </a:solidFill>
                        </a:defRPr>
                      </a:pPr>
                      <a:r>
                        <a:t>PASS (Rejected)</a:t>
                      </a:r>
                    </a:p>
                  </a:txBody>
                  <a:tcPr>
                    <a:solidFill>
                      <a:srgbClr val="0E1420"/>
                    </a:solidFill>
                  </a:tcPr>
                </a:tc>
                <a:tc>
                  <a:txBody>
                    <a:bodyPr/>
                    <a:lstStyle/>
                    <a:p>
                      <a:pPr>
                        <a:defRPr sz="1100">
                          <a:solidFill>
                            <a:srgbClr val="06B6D4"/>
                          </a:solidFill>
                        </a:defRPr>
                      </a:pPr>
                      <a:r>
                        <a:t>PASS</a:t>
                      </a:r>
                    </a:p>
                  </a:txBody>
                  <a:tcPr>
                    <a:solidFill>
                      <a:srgbClr val="0E1420"/>
                    </a:solidFill>
                  </a:tcPr>
                </a:tc>
              </a:tr>
              <a:tr h="627017">
                <a:tc>
                  <a:txBody>
                    <a:bodyPr/>
                    <a:lstStyle/>
                    <a:p>
                      <a:pPr>
                        <a:defRPr sz="1100">
                          <a:solidFill>
                            <a:srgbClr val="F8FAFC"/>
                          </a:solidFill>
                        </a:defRPr>
                      </a:pPr>
                      <a:r>
                        <a:t>SCN-04: Unauthorized Network Egress</a:t>
                      </a:r>
                    </a:p>
                  </a:txBody>
                  <a:tcPr>
                    <a:solidFill>
                      <a:srgbClr val="0E1420"/>
                    </a:solidFill>
                  </a:tcPr>
                </a:tc>
                <a:tc>
                  <a:txBody>
                    <a:bodyPr/>
                    <a:lstStyle/>
                    <a:p>
                      <a:pPr>
                        <a:defRPr sz="1100">
                          <a:solidFill>
                            <a:srgbClr val="F8FAFC"/>
                          </a:solidFill>
                        </a:defRPr>
                      </a:pPr>
                      <a:r>
                        <a:t>Target attempts external HTTP connection to exfiltrate leaked tokens.</a:t>
                      </a:r>
                    </a:p>
                  </a:txBody>
                  <a:tcPr>
                    <a:solidFill>
                      <a:srgbClr val="0E1420"/>
                    </a:solidFill>
                  </a:tcPr>
                </a:tc>
                <a:tc>
                  <a:txBody>
                    <a:bodyPr/>
                    <a:lstStyle/>
                    <a:p>
                      <a:pPr>
                        <a:defRPr sz="1100">
                          <a:solidFill>
                            <a:srgbClr val="F8FAFC"/>
                          </a:solidFill>
                        </a:defRPr>
                      </a:pPr>
                      <a:r>
                        <a:t>Docker Egress Firewall</a:t>
                      </a:r>
                    </a:p>
                  </a:txBody>
                  <a:tcPr>
                    <a:solidFill>
                      <a:srgbClr val="0E1420"/>
                    </a:solidFill>
                  </a:tcPr>
                </a:tc>
                <a:tc>
                  <a:txBody>
                    <a:bodyPr/>
                    <a:lstStyle/>
                    <a:p>
                      <a:pPr>
                        <a:defRPr sz="1100">
                          <a:solidFill>
                            <a:srgbClr val="8B5CF6"/>
                          </a:solidFill>
                        </a:defRPr>
                      </a:pPr>
                      <a:r>
                        <a:t>PASS (Refused)</a:t>
                      </a:r>
                    </a:p>
                  </a:txBody>
                  <a:tcPr>
                    <a:solidFill>
                      <a:srgbClr val="0E1420"/>
                    </a:solidFill>
                  </a:tcPr>
                </a:tc>
                <a:tc>
                  <a:txBody>
                    <a:bodyPr/>
                    <a:lstStyle/>
                    <a:p>
                      <a:pPr>
                        <a:defRPr sz="1100">
                          <a:solidFill>
                            <a:srgbClr val="8B5CF6"/>
                          </a:solidFill>
                        </a:defRPr>
                      </a:pPr>
                      <a:r>
                        <a:t>PASS</a:t>
                      </a:r>
                    </a:p>
                  </a:txBody>
                  <a:tcPr>
                    <a:solidFill>
                      <a:srgbClr val="0E1420"/>
                    </a:solidFill>
                  </a:tcPr>
                </a:tc>
              </a:tr>
              <a:tr h="627017">
                <a:tc>
                  <a:txBody>
                    <a:bodyPr/>
                    <a:lstStyle/>
                    <a:p>
                      <a:pPr>
                        <a:defRPr sz="1100">
                          <a:solidFill>
                            <a:srgbClr val="F8FAFC"/>
                          </a:solidFill>
                        </a:defRPr>
                      </a:pPr>
                      <a:r>
                        <a:t>SCN-05: Protected Filesystem Write</a:t>
                      </a:r>
                    </a:p>
                  </a:txBody>
                  <a:tcPr>
                    <a:solidFill>
                      <a:srgbClr val="0E1420"/>
                    </a:solidFill>
                  </a:tcPr>
                </a:tc>
                <a:tc>
                  <a:txBody>
                    <a:bodyPr/>
                    <a:lstStyle/>
                    <a:p>
                      <a:pPr>
                        <a:defRPr sz="1100">
                          <a:solidFill>
                            <a:srgbClr val="F8FAFC"/>
                          </a:solidFill>
                        </a:defRPr>
                      </a:pPr>
                      <a:r>
                        <a:t>Target attempts to write backdoor payload to read-only system root.</a:t>
                      </a:r>
                    </a:p>
                  </a:txBody>
                  <a:tcPr>
                    <a:solidFill>
                      <a:srgbClr val="0E1420"/>
                    </a:solidFill>
                  </a:tcPr>
                </a:tc>
                <a:tc>
                  <a:txBody>
                    <a:bodyPr/>
                    <a:lstStyle/>
                    <a:p>
                      <a:pPr>
                        <a:defRPr sz="1100">
                          <a:solidFill>
                            <a:srgbClr val="F8FAFC"/>
                          </a:solidFill>
                        </a:defRPr>
                      </a:pPr>
                      <a:r>
                        <a:t>Read-Only Rootfs (EROFS)</a:t>
                      </a:r>
                    </a:p>
                  </a:txBody>
                  <a:tcPr>
                    <a:solidFill>
                      <a:srgbClr val="0E1420"/>
                    </a:solidFill>
                  </a:tcPr>
                </a:tc>
                <a:tc>
                  <a:txBody>
                    <a:bodyPr/>
                    <a:lstStyle/>
                    <a:p>
                      <a:pPr>
                        <a:defRPr sz="1100">
                          <a:solidFill>
                            <a:srgbClr val="8B5CF6"/>
                          </a:solidFill>
                        </a:defRPr>
                      </a:pPr>
                      <a:r>
                        <a:t>PASS (Denied)</a:t>
                      </a:r>
                    </a:p>
                  </a:txBody>
                  <a:tcPr>
                    <a:solidFill>
                      <a:srgbClr val="0E1420"/>
                    </a:solidFill>
                  </a:tcPr>
                </a:tc>
                <a:tc>
                  <a:txBody>
                    <a:bodyPr/>
                    <a:lstStyle/>
                    <a:p>
                      <a:pPr>
                        <a:defRPr sz="1100">
                          <a:solidFill>
                            <a:srgbClr val="8B5CF6"/>
                          </a:solidFill>
                        </a:defRPr>
                      </a:pPr>
                      <a:r>
                        <a:t>PASS</a:t>
                      </a:r>
                    </a:p>
                  </a:txBody>
                  <a:tcPr>
                    <a:solidFill>
                      <a:srgbClr val="0E1420"/>
                    </a:solidFill>
                  </a:tcPr>
                </a:tc>
              </a:tr>
              <a:tr h="627018">
                <a:tc>
                  <a:txBody>
                    <a:bodyPr/>
                    <a:lstStyle/>
                    <a:p>
                      <a:pPr>
                        <a:defRPr sz="1100">
                          <a:solidFill>
                            <a:srgbClr val="F8FAFC"/>
                          </a:solidFill>
                        </a:defRPr>
                      </a:pPr>
                      <a:r>
                        <a:t>SCN-06: Ledger Event Modification</a:t>
                      </a:r>
                    </a:p>
                  </a:txBody>
                  <a:tcPr>
                    <a:solidFill>
                      <a:srgbClr val="0E1420"/>
                    </a:solidFill>
                  </a:tcPr>
                </a:tc>
                <a:tc>
                  <a:txBody>
                    <a:bodyPr/>
                    <a:lstStyle/>
                    <a:p>
                      <a:pPr>
                        <a:defRPr sz="1100">
                          <a:solidFill>
                            <a:srgbClr val="F8FAFC"/>
                          </a:solidFill>
                        </a:defRPr>
                      </a:pPr>
                      <a:r>
                        <a:t>Attacker modifies single byte in historical audit event #3.</a:t>
                      </a:r>
                    </a:p>
                  </a:txBody>
                  <a:tcPr>
                    <a:solidFill>
                      <a:srgbClr val="0E1420"/>
                    </a:solidFill>
                  </a:tcPr>
                </a:tc>
                <a:tc>
                  <a:txBody>
                    <a:bodyPr/>
                    <a:lstStyle/>
                    <a:p>
                      <a:pPr>
                        <a:defRPr sz="1100">
                          <a:solidFill>
                            <a:srgbClr val="F8FAFC"/>
                          </a:solidFill>
                        </a:defRPr>
                      </a:pPr>
                      <a:r>
                        <a:t>SHA-256 Hash Verifier</a:t>
                      </a:r>
                    </a:p>
                  </a:txBody>
                  <a:tcPr>
                    <a:solidFill>
                      <a:srgbClr val="0E1420"/>
                    </a:solidFill>
                  </a:tcPr>
                </a:tc>
                <a:tc>
                  <a:txBody>
                    <a:bodyPr/>
                    <a:lstStyle/>
                    <a:p>
                      <a:pPr>
                        <a:defRPr sz="1100">
                          <a:solidFill>
                            <a:srgbClr val="EF4444"/>
                          </a:solidFill>
                        </a:defRPr>
                      </a:pPr>
                      <a:r>
                        <a:t>TAMPER REJECTED</a:t>
                      </a:r>
                    </a:p>
                  </a:txBody>
                  <a:tcPr>
                    <a:solidFill>
                      <a:srgbClr val="0E1420"/>
                    </a:solidFill>
                  </a:tcPr>
                </a:tc>
                <a:tc>
                  <a:txBody>
                    <a:bodyPr/>
                    <a:lstStyle/>
                    <a:p>
                      <a:pPr>
                        <a:defRPr sz="1100">
                          <a:solidFill>
                            <a:srgbClr val="EF4444"/>
                          </a:solidFill>
                        </a:defRPr>
                      </a:pPr>
                      <a:r>
                        <a:t>PASS</a:t>
                      </a:r>
                    </a:p>
                  </a:txBody>
                  <a:tcPr>
                    <a:solidFill>
                      <a:srgbClr val="0E1420"/>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ENFORCEMENT GATEWAY</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FastAPI Policy Broker &amp; Blue Guardrail</a:t>
            </a:r>
          </a:p>
          <a:p>
            <a:pPr>
              <a:defRPr sz="1300">
                <a:solidFill>
                  <a:srgbClr val="94A3B8"/>
                </a:solidFill>
              </a:defRPr>
            </a:pPr>
            <a:r>
              <a:t>The central trust boundary with zero-trust output verification</a:t>
            </a:r>
          </a:p>
        </p:txBody>
      </p:sp>
      <p:sp>
        <p:nvSpPr>
          <p:cNvPr id="5" name="Rounded Rectangle 4"/>
          <p:cNvSpPr/>
          <p:nvPr/>
        </p:nvSpPr>
        <p:spPr>
          <a:xfrm>
            <a:off x="731520" y="1645920"/>
            <a:ext cx="5212080" cy="173736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65760"/>
          </a:xfrm>
          <a:prstGeom prst="rect">
            <a:avLst/>
          </a:prstGeom>
          <a:noFill/>
        </p:spPr>
        <p:txBody>
          <a:bodyPr wrap="square" lIns="0" tIns="0" rIns="0" bIns="0">
            <a:spAutoFit/>
          </a:bodyPr>
          <a:lstStyle/>
          <a:p>
            <a:pPr>
              <a:defRPr sz="1500" b="1">
                <a:solidFill>
                  <a:srgbClr val="F8FAFC"/>
                </a:solidFill>
              </a:defRPr>
            </a:pPr>
            <a:r>
              <a:t>Typed Pydantic Validation</a:t>
            </a:r>
          </a:p>
        </p:txBody>
      </p:sp>
      <p:sp>
        <p:nvSpPr>
          <p:cNvPr id="7" name="TextBox 6"/>
          <p:cNvSpPr txBox="1"/>
          <p:nvPr/>
        </p:nvSpPr>
        <p:spPr>
          <a:xfrm>
            <a:off x="960120" y="2194560"/>
            <a:ext cx="4754880" cy="1097280"/>
          </a:xfrm>
          <a:prstGeom prst="rect">
            <a:avLst/>
          </a:prstGeom>
          <a:noFill/>
        </p:spPr>
        <p:txBody>
          <a:bodyPr wrap="square">
            <a:spAutoFit/>
          </a:bodyPr>
          <a:lstStyle/>
          <a:p>
            <a:pPr>
              <a:defRPr sz="1200">
                <a:solidFill>
                  <a:srgbClr val="94A3B8"/>
                </a:solidFill>
              </a:defRPr>
            </a:pPr>
            <a:r>
              <a:t>All incoming requests are strictly validated against strongly-typed Pydantic schemas. Malformed syntax, unknown fields, and oversized payloads are halted before touching the AI target.</a:t>
            </a:r>
          </a:p>
        </p:txBody>
      </p:sp>
      <p:sp>
        <p:nvSpPr>
          <p:cNvPr id="8" name="Rounded Rectangle 7"/>
          <p:cNvSpPr/>
          <p:nvPr/>
        </p:nvSpPr>
        <p:spPr>
          <a:xfrm>
            <a:off x="6126480" y="1645920"/>
            <a:ext cx="5212080" cy="173736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4754880" cy="365760"/>
          </a:xfrm>
          <a:prstGeom prst="rect">
            <a:avLst/>
          </a:prstGeom>
          <a:noFill/>
        </p:spPr>
        <p:txBody>
          <a:bodyPr wrap="square" lIns="0" tIns="0" rIns="0" bIns="0">
            <a:spAutoFit/>
          </a:bodyPr>
          <a:lstStyle/>
          <a:p>
            <a:pPr>
              <a:defRPr sz="1500" b="1">
                <a:solidFill>
                  <a:srgbClr val="F8FAFC"/>
                </a:solidFill>
              </a:defRPr>
            </a:pPr>
            <a:r>
              <a:t>Strict Destination Allowlist</a:t>
            </a:r>
          </a:p>
        </p:txBody>
      </p:sp>
      <p:sp>
        <p:nvSpPr>
          <p:cNvPr id="10" name="TextBox 9"/>
          <p:cNvSpPr txBox="1"/>
          <p:nvPr/>
        </p:nvSpPr>
        <p:spPr>
          <a:xfrm>
            <a:off x="6355080" y="2194560"/>
            <a:ext cx="4754880" cy="1097280"/>
          </a:xfrm>
          <a:prstGeom prst="rect">
            <a:avLst/>
          </a:prstGeom>
          <a:noFill/>
        </p:spPr>
        <p:txBody>
          <a:bodyPr wrap="square">
            <a:spAutoFit/>
          </a:bodyPr>
          <a:lstStyle/>
          <a:p>
            <a:pPr>
              <a:defRPr sz="1200">
                <a:solidFill>
                  <a:srgbClr val="94A3B8"/>
                </a:solidFill>
              </a:defRPr>
            </a:pPr>
            <a:r>
              <a:t>Bayora is NOT an open reverse proxy. Outbound routes are hardcoded to approved targets. Any attempt by payloads or headers to reach unapproved endpoints is rejected instantly.</a:t>
            </a:r>
          </a:p>
        </p:txBody>
      </p:sp>
      <p:sp>
        <p:nvSpPr>
          <p:cNvPr id="11" name="Rounded Rectangle 10"/>
          <p:cNvSpPr/>
          <p:nvPr/>
        </p:nvSpPr>
        <p:spPr>
          <a:xfrm>
            <a:off x="731520" y="3566160"/>
            <a:ext cx="5212080" cy="173736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749040"/>
            <a:ext cx="4754880" cy="365760"/>
          </a:xfrm>
          <a:prstGeom prst="rect">
            <a:avLst/>
          </a:prstGeom>
          <a:noFill/>
        </p:spPr>
        <p:txBody>
          <a:bodyPr wrap="square" lIns="0" tIns="0" rIns="0" bIns="0">
            <a:spAutoFit/>
          </a:bodyPr>
          <a:lstStyle/>
          <a:p>
            <a:pPr>
              <a:defRPr sz="1500" b="1">
                <a:solidFill>
                  <a:srgbClr val="F8FAFC"/>
                </a:solidFill>
              </a:defRPr>
            </a:pPr>
            <a:r>
              <a:t>Synthetic Canary Generator</a:t>
            </a:r>
          </a:p>
        </p:txBody>
      </p:sp>
      <p:sp>
        <p:nvSpPr>
          <p:cNvPr id="13" name="TextBox 12"/>
          <p:cNvSpPr txBox="1"/>
          <p:nvPr/>
        </p:nvSpPr>
        <p:spPr>
          <a:xfrm>
            <a:off x="960120" y="4114800"/>
            <a:ext cx="4754880" cy="1097280"/>
          </a:xfrm>
          <a:prstGeom prst="rect">
            <a:avLst/>
          </a:prstGeom>
          <a:noFill/>
        </p:spPr>
        <p:txBody>
          <a:bodyPr wrap="square">
            <a:spAutoFit/>
          </a:bodyPr>
          <a:lstStyle/>
          <a:p>
            <a:pPr>
              <a:defRPr sz="1200">
                <a:solidFill>
                  <a:srgbClr val="94A3B8"/>
                </a:solidFill>
              </a:defRPr>
            </a:pPr>
            <a:r>
              <a:t>Every evaluation generates unique, high-entropy synthetic canary tokens (e.g. `CANARY-8f9b2c-SECRET`). Real enterprise secrets are never exposed in test scenarios.</a:t>
            </a:r>
          </a:p>
        </p:txBody>
      </p:sp>
      <p:sp>
        <p:nvSpPr>
          <p:cNvPr id="14" name="Rounded Rectangle 13"/>
          <p:cNvSpPr/>
          <p:nvPr/>
        </p:nvSpPr>
        <p:spPr>
          <a:xfrm>
            <a:off x="6126480" y="3566160"/>
            <a:ext cx="5212080" cy="173736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749040"/>
            <a:ext cx="4754880" cy="365760"/>
          </a:xfrm>
          <a:prstGeom prst="rect">
            <a:avLst/>
          </a:prstGeom>
          <a:noFill/>
        </p:spPr>
        <p:txBody>
          <a:bodyPr wrap="square" lIns="0" tIns="0" rIns="0" bIns="0">
            <a:spAutoFit/>
          </a:bodyPr>
          <a:lstStyle/>
          <a:p>
            <a:pPr>
              <a:defRPr sz="1500" b="1">
                <a:solidFill>
                  <a:srgbClr val="F8FAFC"/>
                </a:solidFill>
              </a:defRPr>
            </a:pPr>
            <a:r>
              <a:t>Pre-Release Output Redaction</a:t>
            </a:r>
          </a:p>
        </p:txBody>
      </p:sp>
      <p:sp>
        <p:nvSpPr>
          <p:cNvPr id="16" name="TextBox 15"/>
          <p:cNvSpPr txBox="1"/>
          <p:nvPr/>
        </p:nvSpPr>
        <p:spPr>
          <a:xfrm>
            <a:off x="6355080" y="4114800"/>
            <a:ext cx="4754880" cy="1097280"/>
          </a:xfrm>
          <a:prstGeom prst="rect">
            <a:avLst/>
          </a:prstGeom>
          <a:noFill/>
        </p:spPr>
        <p:txBody>
          <a:bodyPr wrap="square">
            <a:spAutoFit/>
          </a:bodyPr>
          <a:lstStyle/>
          <a:p>
            <a:pPr>
              <a:defRPr sz="1200">
                <a:solidFill>
                  <a:srgbClr val="94A3B8"/>
                </a:solidFill>
              </a:defRPr>
            </a:pPr>
            <a:r>
              <a:t>Before any target response is released to the caller, the Blue Guardrail performs deep payload inspection. If a canary token is present, it is redacted and an alert is recorded.</a:t>
            </a:r>
          </a:p>
        </p:txBody>
      </p:sp>
      <p:sp>
        <p:nvSpPr>
          <p:cNvPr id="17" name="Rounded Rectangle 16"/>
          <p:cNvSpPr/>
          <p:nvPr/>
        </p:nvSpPr>
        <p:spPr>
          <a:xfrm>
            <a:off x="731520" y="5486400"/>
            <a:ext cx="10698480" cy="868680"/>
          </a:xfrm>
          <a:prstGeom prst="roundRect">
            <a:avLst/>
          </a:prstGeom>
          <a:solidFill>
            <a:srgbClr val="101C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623560"/>
            <a:ext cx="10332720" cy="594360"/>
          </a:xfrm>
          <a:prstGeom prst="rect">
            <a:avLst/>
          </a:prstGeom>
          <a:noFill/>
        </p:spPr>
        <p:txBody>
          <a:bodyPr wrap="square">
            <a:spAutoFit/>
          </a:bodyPr>
          <a:lstStyle/>
          <a:p>
            <a:pPr>
              <a:defRPr sz="1100" b="1">
                <a:solidFill>
                  <a:srgbClr val="F8FAFC"/>
                </a:solidFill>
              </a:defRPr>
            </a:pPr>
            <a:r>
              <a:t>EXPLICIT ENFORCEMENT STATE MACHINE: DETECTED → BLOCKED → REDACTED → ALLOWED → ERROR → NOT_EVALUATED. These states have consistent, unalterable semantics across UI, API, and ledger.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INFRASTRUCTURE ISOLATION</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Multi-Tier Runtime Hardening &amp; OS Containment</a:t>
            </a:r>
          </a:p>
          <a:p>
            <a:pPr>
              <a:defRPr sz="1300">
                <a:solidFill>
                  <a:srgbClr val="94A3B8"/>
                </a:solidFill>
              </a:defRPr>
            </a:pPr>
            <a:r>
              <a:t>Ensuring target compromise cannot escape into host infrastructure</a:t>
            </a:r>
          </a:p>
        </p:txBody>
      </p:sp>
      <p:sp>
        <p:nvSpPr>
          <p:cNvPr id="5" name="Rounded Rectangle 4"/>
          <p:cNvSpPr/>
          <p:nvPr/>
        </p:nvSpPr>
        <p:spPr>
          <a:xfrm>
            <a:off x="731520" y="1645920"/>
            <a:ext cx="3383280" cy="356616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365760"/>
          </a:xfrm>
          <a:prstGeom prst="rect">
            <a:avLst/>
          </a:prstGeom>
          <a:noFill/>
        </p:spPr>
        <p:txBody>
          <a:bodyPr wrap="square" lIns="0" tIns="0" rIns="0" bIns="0">
            <a:spAutoFit/>
          </a:bodyPr>
          <a:lstStyle/>
          <a:p>
            <a:pPr>
              <a:defRPr sz="1500" b="1">
                <a:solidFill>
                  <a:srgbClr val="F8FAFC"/>
                </a:solidFill>
              </a:defRPr>
            </a:pPr>
            <a:r>
              <a:t>Network Egress Firewall</a:t>
            </a:r>
          </a:p>
        </p:txBody>
      </p:sp>
      <p:sp>
        <p:nvSpPr>
          <p:cNvPr id="7" name="TextBox 6"/>
          <p:cNvSpPr txBox="1"/>
          <p:nvPr/>
        </p:nvSpPr>
        <p:spPr>
          <a:xfrm>
            <a:off x="960120" y="2286000"/>
            <a:ext cx="2926080" cy="2743200"/>
          </a:xfrm>
          <a:prstGeom prst="rect">
            <a:avLst/>
          </a:prstGeom>
          <a:noFill/>
        </p:spPr>
        <p:txBody>
          <a:bodyPr wrap="square" lIns="0" tIns="0" rIns="0" bIns="0">
            <a:spAutoFit/>
          </a:bodyPr>
          <a:lstStyle/>
          <a:p>
            <a:pPr>
              <a:defRPr sz="1200">
                <a:solidFill>
                  <a:srgbClr val="94A3B8"/>
                </a:solidFill>
              </a:defRPr>
            </a:pPr>
            <a:r>
              <a:t>• Isolated Docker bridge network</a:t>
            </a:r>
          </a:p>
          <a:p>
            <a:pPr>
              <a:defRPr sz="1200">
                <a:solidFill>
                  <a:srgbClr val="94A3B8"/>
                </a:solidFill>
              </a:defRPr>
            </a:pPr>
            <a:r>
              <a:t>• Zero outbound internet routing</a:t>
            </a:r>
          </a:p>
          <a:p>
            <a:pPr>
              <a:defRPr sz="1200">
                <a:solidFill>
                  <a:srgbClr val="94A3B8"/>
                </a:solidFill>
              </a:defRPr>
            </a:pPr>
            <a:r>
              <a:t>• DNS exfiltration strictly blocked</a:t>
            </a:r>
          </a:p>
          <a:p>
            <a:pPr>
              <a:defRPr sz="1200">
                <a:solidFill>
                  <a:srgbClr val="94A3B8"/>
                </a:solidFill>
              </a:defRPr>
            </a:pPr>
            <a:r>
              <a:t>• Real socket connection tests prove denial</a:t>
            </a:r>
          </a:p>
          <a:p>
            <a:pPr>
              <a:defRPr sz="1200">
                <a:solidFill>
                  <a:srgbClr val="94A3B8"/>
                </a:solidFill>
              </a:defRPr>
            </a:pPr>
            <a:r>
              <a:t>• Distinguishes timeout vs active refusal</a:t>
            </a:r>
          </a:p>
        </p:txBody>
      </p:sp>
      <p:sp>
        <p:nvSpPr>
          <p:cNvPr id="8" name="Rounded Rectangle 7"/>
          <p:cNvSpPr/>
          <p:nvPr/>
        </p:nvSpPr>
        <p:spPr>
          <a:xfrm>
            <a:off x="4389120" y="1645920"/>
            <a:ext cx="3383280" cy="356616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926080" cy="365760"/>
          </a:xfrm>
          <a:prstGeom prst="rect">
            <a:avLst/>
          </a:prstGeom>
          <a:noFill/>
        </p:spPr>
        <p:txBody>
          <a:bodyPr wrap="square" lIns="0" tIns="0" rIns="0" bIns="0">
            <a:spAutoFit/>
          </a:bodyPr>
          <a:lstStyle/>
          <a:p>
            <a:pPr>
              <a:defRPr sz="1500" b="1">
                <a:solidFill>
                  <a:srgbClr val="F8FAFC"/>
                </a:solidFill>
              </a:defRPr>
            </a:pPr>
            <a:r>
              <a:t>Filesystem Immutability</a:t>
            </a:r>
          </a:p>
        </p:txBody>
      </p:sp>
      <p:sp>
        <p:nvSpPr>
          <p:cNvPr id="10" name="TextBox 9"/>
          <p:cNvSpPr txBox="1"/>
          <p:nvPr/>
        </p:nvSpPr>
        <p:spPr>
          <a:xfrm>
            <a:off x="4617720" y="2286000"/>
            <a:ext cx="2926080" cy="2743200"/>
          </a:xfrm>
          <a:prstGeom prst="rect">
            <a:avLst/>
          </a:prstGeom>
          <a:noFill/>
        </p:spPr>
        <p:txBody>
          <a:bodyPr wrap="square" lIns="0" tIns="0" rIns="0" bIns="0">
            <a:spAutoFit/>
          </a:bodyPr>
          <a:lstStyle/>
          <a:p>
            <a:pPr>
              <a:defRPr sz="1200">
                <a:solidFill>
                  <a:srgbClr val="94A3B8"/>
                </a:solidFill>
              </a:defRPr>
            </a:pPr>
            <a:r>
              <a:t>• Read-only root filesystem (`read_only: true`)</a:t>
            </a:r>
          </a:p>
          <a:p>
            <a:pPr>
              <a:defRPr sz="1200">
                <a:solidFill>
                  <a:srgbClr val="94A3B8"/>
                </a:solidFill>
              </a:defRPr>
            </a:pPr>
            <a:r>
              <a:t>• Dedicated ephemeral tmpfs mount only</a:t>
            </a:r>
          </a:p>
          <a:p>
            <a:pPr>
              <a:defRPr sz="1200">
                <a:solidFill>
                  <a:srgbClr val="94A3B8"/>
                </a:solidFill>
              </a:defRPr>
            </a:pPr>
            <a:r>
              <a:t>• EROFS error assertion on write attempts</a:t>
            </a:r>
          </a:p>
          <a:p>
            <a:pPr>
              <a:defRPr sz="1200">
                <a:solidFill>
                  <a:srgbClr val="94A3B8"/>
                </a:solidFill>
              </a:defRPr>
            </a:pPr>
            <a:r>
              <a:t>• Zero access to host Docker socket</a:t>
            </a:r>
          </a:p>
          <a:p>
            <a:pPr>
              <a:defRPr sz="1200">
                <a:solidFill>
                  <a:srgbClr val="94A3B8"/>
                </a:solidFill>
              </a:defRPr>
            </a:pPr>
            <a:r>
              <a:t>• Prevents payload persistence &amp; trojans</a:t>
            </a:r>
          </a:p>
        </p:txBody>
      </p:sp>
      <p:sp>
        <p:nvSpPr>
          <p:cNvPr id="11" name="Rounded Rectangle 10"/>
          <p:cNvSpPr/>
          <p:nvPr/>
        </p:nvSpPr>
        <p:spPr>
          <a:xfrm>
            <a:off x="8046720" y="1645920"/>
            <a:ext cx="3383280" cy="356616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926080" cy="365760"/>
          </a:xfrm>
          <a:prstGeom prst="rect">
            <a:avLst/>
          </a:prstGeom>
          <a:noFill/>
        </p:spPr>
        <p:txBody>
          <a:bodyPr wrap="square" lIns="0" tIns="0" rIns="0" bIns="0">
            <a:spAutoFit/>
          </a:bodyPr>
          <a:lstStyle/>
          <a:p>
            <a:pPr>
              <a:defRPr sz="1500" b="1">
                <a:solidFill>
                  <a:srgbClr val="F8FAFC"/>
                </a:solidFill>
              </a:defRPr>
            </a:pPr>
            <a:r>
              <a:t>Privilege Demotion</a:t>
            </a:r>
          </a:p>
        </p:txBody>
      </p:sp>
      <p:sp>
        <p:nvSpPr>
          <p:cNvPr id="13" name="TextBox 12"/>
          <p:cNvSpPr txBox="1"/>
          <p:nvPr/>
        </p:nvSpPr>
        <p:spPr>
          <a:xfrm>
            <a:off x="8275320" y="2286000"/>
            <a:ext cx="2926080" cy="2743200"/>
          </a:xfrm>
          <a:prstGeom prst="rect">
            <a:avLst/>
          </a:prstGeom>
          <a:noFill/>
        </p:spPr>
        <p:txBody>
          <a:bodyPr wrap="square" lIns="0" tIns="0" rIns="0" bIns="0">
            <a:spAutoFit/>
          </a:bodyPr>
          <a:lstStyle/>
          <a:p>
            <a:pPr>
              <a:defRPr sz="1200">
                <a:solidFill>
                  <a:srgbClr val="94A3B8"/>
                </a:solidFill>
              </a:defRPr>
            </a:pPr>
            <a:r>
              <a:t>• Container runs as unprivileged user (UID 10001)</a:t>
            </a:r>
          </a:p>
          <a:p>
            <a:pPr>
              <a:defRPr sz="1200">
                <a:solidFill>
                  <a:srgbClr val="94A3B8"/>
                </a:solidFill>
              </a:defRPr>
            </a:pPr>
            <a:r>
              <a:t>• All Linux capabilities dropped (`cap_drop: ALL`)</a:t>
            </a:r>
          </a:p>
          <a:p>
            <a:pPr>
              <a:defRPr sz="1200">
                <a:solidFill>
                  <a:srgbClr val="94A3B8"/>
                </a:solidFill>
              </a:defRPr>
            </a:pPr>
            <a:r>
              <a:t>• No `new_privileges` flag enabled</a:t>
            </a:r>
          </a:p>
          <a:p>
            <a:pPr>
              <a:defRPr sz="1200">
                <a:solidFill>
                  <a:srgbClr val="94A3B8"/>
                </a:solidFill>
              </a:defRPr>
            </a:pPr>
            <a:r>
              <a:t>• CPU &amp; memory quota constraints</a:t>
            </a:r>
          </a:p>
          <a:p>
            <a:pPr>
              <a:defRPr sz="1200">
                <a:solidFill>
                  <a:srgbClr val="94A3B8"/>
                </a:solidFill>
              </a:defRPr>
            </a:pPr>
            <a:r>
              <a:t>• Prevents kernel &amp; container breakout</a:t>
            </a:r>
          </a:p>
        </p:txBody>
      </p:sp>
      <p:sp>
        <p:nvSpPr>
          <p:cNvPr id="14" name="Rounded Rectangle 13"/>
          <p:cNvSpPr/>
          <p:nvPr/>
        </p:nvSpPr>
        <p:spPr>
          <a:xfrm>
            <a:off x="731520" y="5394960"/>
            <a:ext cx="10698480" cy="914400"/>
          </a:xfrm>
          <a:prstGeom prst="roundRect">
            <a:avLst/>
          </a:prstGeom>
          <a:solidFill>
            <a:srgbClr val="1C161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32120"/>
            <a:ext cx="10332720" cy="640080"/>
          </a:xfrm>
          <a:prstGeom prst="rect">
            <a:avLst/>
          </a:prstGeom>
          <a:noFill/>
        </p:spPr>
        <p:txBody>
          <a:bodyPr wrap="square">
            <a:spAutoFit/>
          </a:bodyPr>
          <a:lstStyle/>
          <a:p>
            <a:pPr>
              <a:defRPr sz="1200" b="1">
                <a:solidFill>
                  <a:srgbClr val="F59E0B"/>
                </a:solidFill>
              </a:defRPr>
            </a:pPr>
            <a:r>
              <a:t>HONEST CONTAINER VERIFICATION: If Docker is unavailable in the execution host, Docker assertions are strictly reported as 'SKIPPED' or 'UNAVAILABLE'—NEVER marked as 'PASS' based on static yaml config alone.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CRYPTOGRAPHIC CORE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SHA-256 Hash-Chained Audit Ledger</a:t>
            </a:r>
          </a:p>
          <a:p>
            <a:pPr>
              <a:defRPr sz="1300">
                <a:solidFill>
                  <a:srgbClr val="94A3B8"/>
                </a:solidFill>
              </a:defRPr>
            </a:pPr>
            <a:r>
              <a:t>Immutable, tamper-evident record of all security-relevant execution events</a:t>
            </a:r>
          </a:p>
        </p:txBody>
      </p:sp>
      <p:sp>
        <p:nvSpPr>
          <p:cNvPr id="5" name="Rounded Rectangle 4"/>
          <p:cNvSpPr/>
          <p:nvPr/>
        </p:nvSpPr>
        <p:spPr>
          <a:xfrm>
            <a:off x="731520" y="1645920"/>
            <a:ext cx="5212080" cy="448056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65760"/>
          </a:xfrm>
          <a:prstGeom prst="rect">
            <a:avLst/>
          </a:prstGeom>
          <a:noFill/>
        </p:spPr>
        <p:txBody>
          <a:bodyPr wrap="square" lIns="0" tIns="0" rIns="0" bIns="0">
            <a:spAutoFit/>
          </a:bodyPr>
          <a:lstStyle/>
          <a:p>
            <a:pPr>
              <a:defRPr sz="1500" b="1">
                <a:solidFill>
                  <a:srgbClr val="F8FAFC"/>
                </a:solidFill>
              </a:defRPr>
            </a:pPr>
            <a:r>
              <a:t>Ledger Block Structure</a:t>
            </a:r>
          </a:p>
        </p:txBody>
      </p:sp>
      <p:sp>
        <p:nvSpPr>
          <p:cNvPr id="7" name="TextBox 6"/>
          <p:cNvSpPr txBox="1"/>
          <p:nvPr/>
        </p:nvSpPr>
        <p:spPr>
          <a:xfrm>
            <a:off x="960120" y="2194560"/>
            <a:ext cx="4754880" cy="3749039"/>
          </a:xfrm>
          <a:prstGeom prst="rect">
            <a:avLst/>
          </a:prstGeom>
          <a:noFill/>
        </p:spPr>
        <p:txBody>
          <a:bodyPr wrap="square">
            <a:spAutoFit/>
          </a:bodyPr>
          <a:lstStyle/>
          <a:p>
            <a:pPr>
              <a:defRPr sz="1200">
                <a:solidFill>
                  <a:srgbClr val="F8FAFC"/>
                </a:solidFill>
              </a:defRPr>
            </a:pPr>
            <a:r>
              <a:t>• Canonical RFC-8785 JSON serialization format</a:t>
            </a:r>
          </a:p>
          <a:p>
            <a:pPr>
              <a:defRPr sz="1200">
                <a:solidFill>
                  <a:srgbClr val="F8FAFC"/>
                </a:solidFill>
              </a:defRPr>
            </a:pPr>
            <a:r>
              <a:t>• event_id (UUIDv4) &amp; monotonic sequence_num</a:t>
            </a:r>
          </a:p>
          <a:p>
            <a:pPr>
              <a:defRPr sz="1200">
                <a:solidFill>
                  <a:srgbClr val="F8FAFC"/>
                </a:solidFill>
              </a:defRPr>
            </a:pPr>
            <a:r>
              <a:t>• UTC ISO-8601 timestamp &amp; evaluation run_id</a:t>
            </a:r>
          </a:p>
          <a:p>
            <a:pPr>
              <a:defRPr sz="1200">
                <a:solidFill>
                  <a:srgbClr val="F8FAFC"/>
                </a:solidFill>
              </a:defRPr>
            </a:pPr>
            <a:r>
              <a:t>• Component origin (INGRESS, BROKER, TARGET, LEDGER)</a:t>
            </a:r>
          </a:p>
          <a:p>
            <a:pPr>
              <a:defRPr sz="1200">
                <a:solidFill>
                  <a:srgbClr val="F8FAFC"/>
                </a:solidFill>
              </a:defRPr>
            </a:pPr>
            <a:r>
              <a:t>• Policy decision (DETECTED, BLOCKED, REDACTED, ALLOWED)</a:t>
            </a:r>
          </a:p>
          <a:p>
            <a:pPr>
              <a:defRPr sz="1200">
                <a:solidFill>
                  <a:srgbClr val="F8FAFC"/>
                </a:solidFill>
              </a:defRPr>
            </a:pPr>
            <a:r>
              <a:t>• previous_hash: 64-char SHA-256 digest of block N-1</a:t>
            </a:r>
          </a:p>
          <a:p>
            <a:pPr>
              <a:defRPr sz="1200">
                <a:solidFill>
                  <a:srgbClr val="F8FAFC"/>
                </a:solidFill>
              </a:defRPr>
            </a:pPr>
            <a:r>
              <a:t>• current_hash: SHA-256(canonical(block_body + prev_hash))</a:t>
            </a:r>
          </a:p>
          <a:p>
            <a:pPr>
              <a:defRPr sz="1200">
                <a:solidFill>
                  <a:srgbClr val="F8FAFC"/>
                </a:solidFill>
              </a:defRPr>
            </a:pPr>
            <a:r>
              <a:t>• Zero raw secrets stored: Only sanitized digests &amp; metadata</a:t>
            </a:r>
          </a:p>
        </p:txBody>
      </p:sp>
      <p:sp>
        <p:nvSpPr>
          <p:cNvPr id="8" name="Rounded Rectangle 7"/>
          <p:cNvSpPr/>
          <p:nvPr/>
        </p:nvSpPr>
        <p:spPr>
          <a:xfrm>
            <a:off x="6217920" y="1645920"/>
            <a:ext cx="5212080" cy="448056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754880" cy="365760"/>
          </a:xfrm>
          <a:prstGeom prst="rect">
            <a:avLst/>
          </a:prstGeom>
          <a:noFill/>
        </p:spPr>
        <p:txBody>
          <a:bodyPr wrap="square" lIns="0" tIns="0" rIns="0" bIns="0">
            <a:spAutoFit/>
          </a:bodyPr>
          <a:lstStyle/>
          <a:p>
            <a:pPr>
              <a:defRPr sz="1500" b="1">
                <a:solidFill>
                  <a:srgbClr val="F8FAFC"/>
                </a:solidFill>
              </a:defRPr>
            </a:pPr>
            <a:r>
              <a:t>Independent Verifier Detection</a:t>
            </a:r>
          </a:p>
        </p:txBody>
      </p:sp>
      <p:sp>
        <p:nvSpPr>
          <p:cNvPr id="10" name="TextBox 9"/>
          <p:cNvSpPr txBox="1"/>
          <p:nvPr/>
        </p:nvSpPr>
        <p:spPr>
          <a:xfrm>
            <a:off x="6446520" y="2194560"/>
            <a:ext cx="4754880" cy="3749039"/>
          </a:xfrm>
          <a:prstGeom prst="rect">
            <a:avLst/>
          </a:prstGeom>
          <a:noFill/>
        </p:spPr>
        <p:txBody>
          <a:bodyPr wrap="square">
            <a:spAutoFit/>
          </a:bodyPr>
          <a:lstStyle/>
          <a:p>
            <a:pPr>
              <a:defRPr sz="1300" b="1">
                <a:solidFill>
                  <a:srgbClr val="EF4444"/>
                </a:solidFill>
              </a:defRPr>
            </a:pPr>
            <a:r>
              <a:t>✔ Byte Alteration Detection</a:t>
            </a:r>
          </a:p>
          <a:p>
            <a:pPr>
              <a:defRPr sz="1100">
                <a:solidFill>
                  <a:srgbClr val="94A3B8"/>
                </a:solidFill>
              </a:defRPr>
            </a:pPr>
            <a:r>
              <a:t>Single-bit change in event payload causes cascading SHA-256 mismatch.</a:t>
            </a:r>
          </a:p>
          <a:p>
            <a:pPr>
              <a:defRPr sz="1300" b="1">
                <a:solidFill>
                  <a:srgbClr val="F59E0B"/>
                </a:solidFill>
              </a:defRPr>
            </a:pPr>
            <a:r>
              <a:t>✔ Broken Link Detection</a:t>
            </a:r>
          </a:p>
          <a:p>
            <a:pPr>
              <a:defRPr sz="1100">
                <a:solidFill>
                  <a:srgbClr val="94A3B8"/>
                </a:solidFill>
              </a:defRPr>
            </a:pPr>
            <a:r>
              <a:t>Invalid previous_hash pointers immediately detected and located.</a:t>
            </a:r>
          </a:p>
          <a:p>
            <a:pPr>
              <a:defRPr sz="1300" b="1">
                <a:solidFill>
                  <a:srgbClr val="06B6D4"/>
                </a:solidFill>
              </a:defRPr>
            </a:pPr>
            <a:r>
              <a:t>✔ Reordering &amp; Sequence Gaps</a:t>
            </a:r>
          </a:p>
          <a:p>
            <a:pPr>
              <a:defRPr sz="1100">
                <a:solidFill>
                  <a:srgbClr val="94A3B8"/>
                </a:solidFill>
              </a:defRPr>
            </a:pPr>
            <a:r>
              <a:t>Out-of-order sequence numbers or injected blocks fail strict validation.</a:t>
            </a:r>
          </a:p>
          <a:p>
            <a:pPr>
              <a:defRPr sz="1300" b="1">
                <a:solidFill>
                  <a:srgbClr val="10B981"/>
                </a:solidFill>
              </a:defRPr>
            </a:pPr>
            <a:r>
              <a:t>✔ Tail Truncation Detection</a:t>
            </a:r>
          </a:p>
          <a:p>
            <a:pPr>
              <a:defRPr sz="1100">
                <a:solidFill>
                  <a:srgbClr val="94A3B8"/>
                </a:solidFill>
              </a:defRPr>
            </a:pPr>
            <a:r>
              <a:t>Truncated ledgers detected by comparing block height against trusted checkpoint.</a:t>
            </a:r>
          </a:p>
          <a:p>
            <a:pPr>
              <a:defRPr sz="1300" b="1">
                <a:solidFill>
                  <a:srgbClr val="8B5CF6"/>
                </a:solidFill>
              </a:defRPr>
            </a:pPr>
            <a:r>
              <a:t>✔ Standalone CLI Verifier</a:t>
            </a:r>
          </a:p>
          <a:p>
            <a:pPr>
              <a:defRPr sz="1100">
                <a:solidFill>
                  <a:srgbClr val="94A3B8"/>
                </a:solidFill>
              </a:defRPr>
            </a:pPr>
            <a:r>
              <a:t>scripts/verify_ledger.py runs offline without server dependencies.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CRYPTOGRAPHIC ATTESTATION</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Ed25519 Checkpoints &amp; Machine-Readable Report</a:t>
            </a:r>
          </a:p>
          <a:p>
            <a:pPr>
              <a:defRPr sz="1300">
                <a:solidFill>
                  <a:srgbClr val="94A3B8"/>
                </a:solidFill>
              </a:defRPr>
            </a:pPr>
            <a:r>
              <a:t>Producing verifiable artifacts that external compliance auditors can validate</a:t>
            </a:r>
          </a:p>
        </p:txBody>
      </p:sp>
      <p:sp>
        <p:nvSpPr>
          <p:cNvPr id="5" name="Rounded Rectangle 4"/>
          <p:cNvSpPr/>
          <p:nvPr/>
        </p:nvSpPr>
        <p:spPr>
          <a:xfrm>
            <a:off x="731520" y="1645920"/>
            <a:ext cx="5212080" cy="347472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65760"/>
          </a:xfrm>
          <a:prstGeom prst="rect">
            <a:avLst/>
          </a:prstGeom>
          <a:noFill/>
        </p:spPr>
        <p:txBody>
          <a:bodyPr wrap="square" lIns="0" tIns="0" rIns="0" bIns="0">
            <a:spAutoFit/>
          </a:bodyPr>
          <a:lstStyle/>
          <a:p>
            <a:pPr>
              <a:defRPr sz="1500" b="1">
                <a:solidFill>
                  <a:srgbClr val="F8FAFC"/>
                </a:solidFill>
              </a:defRPr>
            </a:pPr>
            <a:r>
              <a:t>Ed25519 Signed Checkpoints</a:t>
            </a:r>
          </a:p>
        </p:txBody>
      </p:sp>
      <p:sp>
        <p:nvSpPr>
          <p:cNvPr id="7" name="TextBox 6"/>
          <p:cNvSpPr txBox="1"/>
          <p:nvPr/>
        </p:nvSpPr>
        <p:spPr>
          <a:xfrm>
            <a:off x="960120" y="2194560"/>
            <a:ext cx="4754880" cy="2743200"/>
          </a:xfrm>
          <a:prstGeom prst="rect">
            <a:avLst/>
          </a:prstGeom>
          <a:noFill/>
        </p:spPr>
        <p:txBody>
          <a:bodyPr wrap="square">
            <a:spAutoFit/>
          </a:bodyPr>
          <a:lstStyle/>
          <a:p>
            <a:pPr>
              <a:defRPr sz="1200">
                <a:solidFill>
                  <a:srgbClr val="F8FAFC"/>
                </a:solidFill>
              </a:defRPr>
            </a:pPr>
            <a:r>
              <a:t>• Binds ledger identity, schema version, and block height.</a:t>
            </a:r>
          </a:p>
          <a:p>
            <a:pPr>
              <a:defRPr sz="1200">
                <a:solidFill>
                  <a:srgbClr val="F8FAFC"/>
                </a:solidFill>
              </a:defRPr>
            </a:pPr>
            <a:r>
              <a:t>• Cryptographically binds final event hash to signing key.</a:t>
            </a:r>
          </a:p>
          <a:p>
            <a:pPr>
              <a:defRPr sz="1200">
                <a:solidFill>
                  <a:srgbClr val="F8FAFC"/>
                </a:solidFill>
              </a:defRPr>
            </a:pPr>
            <a:r>
              <a:t>• Prevents full-history rewrite attacks that hash-chains alone cannot stop.</a:t>
            </a:r>
          </a:p>
          <a:p>
            <a:pPr>
              <a:defRPr sz="1200">
                <a:solidFill>
                  <a:srgbClr val="F8FAFC"/>
                </a:solidFill>
              </a:defRPr>
            </a:pPr>
            <a:r>
              <a:t>• Public key retained separately; private key protected in secret vault.</a:t>
            </a:r>
          </a:p>
          <a:p>
            <a:pPr>
              <a:defRPr sz="1200">
                <a:solidFill>
                  <a:srgbClr val="F8FAFC"/>
                </a:solidFill>
              </a:defRPr>
            </a:pPr>
            <a:r>
              <a:t>• Any auditor can verify the checkpoint signature using standard ed25519 CLI.</a:t>
            </a:r>
          </a:p>
        </p:txBody>
      </p:sp>
      <p:sp>
        <p:nvSpPr>
          <p:cNvPr id="8" name="Rounded Rectangle 7"/>
          <p:cNvSpPr/>
          <p:nvPr/>
        </p:nvSpPr>
        <p:spPr>
          <a:xfrm>
            <a:off x="6217920" y="1645920"/>
            <a:ext cx="5212080" cy="347472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754880" cy="365760"/>
          </a:xfrm>
          <a:prstGeom prst="rect">
            <a:avLst/>
          </a:prstGeom>
          <a:noFill/>
        </p:spPr>
        <p:txBody>
          <a:bodyPr wrap="square" lIns="0" tIns="0" rIns="0" bIns="0">
            <a:spAutoFit/>
          </a:bodyPr>
          <a:lstStyle/>
          <a:p>
            <a:pPr>
              <a:defRPr sz="1500" b="1">
                <a:solidFill>
                  <a:srgbClr val="F8FAFC"/>
                </a:solidFill>
              </a:defRPr>
            </a:pPr>
            <a:r>
              <a:t>Generated audit_report.json</a:t>
            </a:r>
          </a:p>
        </p:txBody>
      </p:sp>
      <p:sp>
        <p:nvSpPr>
          <p:cNvPr id="10" name="TextBox 9"/>
          <p:cNvSpPr txBox="1"/>
          <p:nvPr/>
        </p:nvSpPr>
        <p:spPr>
          <a:xfrm>
            <a:off x="6446520" y="2194560"/>
            <a:ext cx="4754880" cy="2743200"/>
          </a:xfrm>
          <a:prstGeom prst="rect">
            <a:avLst/>
          </a:prstGeom>
          <a:noFill/>
        </p:spPr>
        <p:txBody>
          <a:bodyPr wrap="square">
            <a:spAutoFit/>
          </a:bodyPr>
          <a:lstStyle/>
          <a:p>
            <a:pPr>
              <a:defRPr sz="1200">
                <a:solidFill>
                  <a:srgbClr val="F8FAFC"/>
                </a:solidFill>
              </a:defRPr>
            </a:pPr>
            <a:r>
              <a:t>• Standardized JSON Schema format exported at end of demo run.</a:t>
            </a:r>
          </a:p>
          <a:p>
            <a:pPr>
              <a:defRPr sz="1200">
                <a:solidFill>
                  <a:srgbClr val="F8FAFC"/>
                </a:solidFill>
              </a:defRPr>
            </a:pPr>
            <a:r>
              <a:t>• Contains exact assertion counts: total, passed, failed, skipped.</a:t>
            </a:r>
          </a:p>
          <a:p>
            <a:pPr>
              <a:defRPr sz="1200">
                <a:solidFill>
                  <a:srgbClr val="F8FAFC"/>
                </a:solidFill>
              </a:defRPr>
            </a:pPr>
            <a:r>
              <a:t>• Embeds ledger block height, chain validity, and checkpoint signature.</a:t>
            </a:r>
          </a:p>
          <a:p>
            <a:pPr>
              <a:defRPr sz="1200">
                <a:solidFill>
                  <a:srgbClr val="F8FAFC"/>
                </a:solidFill>
              </a:defRPr>
            </a:pPr>
            <a:r>
              <a:t>• Contains Ed25519 cryptographic signature of the entire report payload.</a:t>
            </a:r>
          </a:p>
          <a:p>
            <a:pPr>
              <a:defRPr sz="1200">
                <a:solidFill>
                  <a:srgbClr val="F8FAFC"/>
                </a:solidFill>
              </a:defRPr>
            </a:pPr>
            <a:r>
              <a:t>• Status flags: VERIFIED, VERIFIED_WITH_LIMITATIONS, FAILED.</a:t>
            </a:r>
          </a:p>
        </p:txBody>
      </p:sp>
      <p:sp>
        <p:nvSpPr>
          <p:cNvPr id="11" name="Rounded Rectangle 10"/>
          <p:cNvSpPr/>
          <p:nvPr/>
        </p:nvSpPr>
        <p:spPr>
          <a:xfrm>
            <a:off x="731520" y="5303520"/>
            <a:ext cx="10698480" cy="1005840"/>
          </a:xfrm>
          <a:prstGeom prst="roundRect">
            <a:avLst/>
          </a:prstGeom>
          <a:solidFill>
            <a:srgbClr val="0E1C18"/>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40680"/>
            <a:ext cx="10332720" cy="731520"/>
          </a:xfrm>
          <a:prstGeom prst="rect">
            <a:avLst/>
          </a:prstGeom>
          <a:noFill/>
        </p:spPr>
        <p:txBody>
          <a:bodyPr wrap="square">
            <a:spAutoFit/>
          </a:bodyPr>
          <a:lstStyle/>
          <a:p>
            <a:pPr>
              <a:defRPr sz="1200" b="1">
                <a:solidFill>
                  <a:srgbClr val="10B981"/>
                </a:solidFill>
              </a:defRPr>
            </a:pPr>
            <a:r>
              <a:t>ATTRIBUTION &amp; PROVENANCE: A signature proves that the evaluation report was signed by the authorized test runner key and has not been modified since creation. It provides authentic, non-repudiable audit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THE KILLER DEMO</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Interactive Tamper Simulator (`scripts/tamper_demo.py`)</a:t>
            </a:r>
          </a:p>
          <a:p>
            <a:pPr>
              <a:defRPr sz="1300">
                <a:solidFill>
                  <a:srgbClr val="94A3B8"/>
                </a:solidFill>
              </a:defRPr>
            </a:pPr>
            <a:r>
              <a:t>Proving cryptographic resilience live without corrupting primary audit data</a:t>
            </a:r>
          </a:p>
        </p:txBody>
      </p:sp>
      <p:sp>
        <p:nvSpPr>
          <p:cNvPr id="5" name="Rounded Rectangle 4"/>
          <p:cNvSpPr/>
          <p:nvPr/>
        </p:nvSpPr>
        <p:spPr>
          <a:xfrm>
            <a:off x="731520" y="1645920"/>
            <a:ext cx="5212080" cy="448056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65760"/>
          </a:xfrm>
          <a:prstGeom prst="rect">
            <a:avLst/>
          </a:prstGeom>
          <a:noFill/>
        </p:spPr>
        <p:txBody>
          <a:bodyPr wrap="square" lIns="0" tIns="0" rIns="0" bIns="0">
            <a:spAutoFit/>
          </a:bodyPr>
          <a:lstStyle/>
          <a:p>
            <a:pPr>
              <a:defRPr sz="1500" b="1">
                <a:solidFill>
                  <a:srgbClr val="F8FAFC"/>
                </a:solidFill>
              </a:defRPr>
            </a:pPr>
            <a:r>
              <a:t>Safe Tamper Sequence</a:t>
            </a:r>
          </a:p>
        </p:txBody>
      </p:sp>
      <p:sp>
        <p:nvSpPr>
          <p:cNvPr id="7" name="TextBox 6"/>
          <p:cNvSpPr txBox="1"/>
          <p:nvPr/>
        </p:nvSpPr>
        <p:spPr>
          <a:xfrm>
            <a:off x="960120" y="2194560"/>
            <a:ext cx="4754880" cy="3749039"/>
          </a:xfrm>
          <a:prstGeom prst="rect">
            <a:avLst/>
          </a:prstGeom>
          <a:noFill/>
        </p:spPr>
        <p:txBody>
          <a:bodyPr wrap="square">
            <a:spAutoFit/>
          </a:bodyPr>
          <a:lstStyle/>
          <a:p>
            <a:pPr>
              <a:defRPr sz="1200">
                <a:solidFill>
                  <a:srgbClr val="F8FAFC"/>
                </a:solidFill>
              </a:defRPr>
            </a:pPr>
            <a:r>
              <a:t>1. Copy Known-Good Ledger to disposable temporary file.</a:t>
            </a:r>
          </a:p>
          <a:p>
            <a:pPr>
              <a:defRPr sz="1200">
                <a:solidFill>
                  <a:srgbClr val="F8FAFC"/>
                </a:solidFill>
              </a:defRPr>
            </a:pPr>
            <a:r>
              <a:t>2. Record baseline verification result (VALID).</a:t>
            </a:r>
          </a:p>
          <a:p>
            <a:pPr>
              <a:defRPr sz="1200">
                <a:solidFill>
                  <a:srgbClr val="F8FAFC"/>
                </a:solidFill>
              </a:defRPr>
            </a:pPr>
            <a:r>
              <a:t>3. Inject 1-byte alteration into historical event #3.</a:t>
            </a:r>
          </a:p>
          <a:p>
            <a:pPr>
              <a:defRPr sz="1200">
                <a:solidFill>
                  <a:srgbClr val="F8FAFC"/>
                </a:solidFill>
              </a:defRPr>
            </a:pPr>
            <a:r>
              <a:t>4. Run Independent Verifier on disposable copy.</a:t>
            </a:r>
          </a:p>
          <a:p>
            <a:pPr>
              <a:defRPr sz="1200">
                <a:solidFill>
                  <a:srgbClr val="F8FAFC"/>
                </a:solidFill>
              </a:defRPr>
            </a:pPr>
            <a:r>
              <a:t>5. Verifier halts at event #3, displaying expected vs computed hashes.</a:t>
            </a:r>
          </a:p>
          <a:p>
            <a:pPr>
              <a:defRPr sz="1200">
                <a:solidFill>
                  <a:srgbClr val="F8FAFC"/>
                </a:solidFill>
              </a:defRPr>
            </a:pPr>
            <a:r>
              <a:t>6. Verifier returns non-zero exit code: [TAMPER REJECTED].</a:t>
            </a:r>
          </a:p>
          <a:p>
            <a:pPr>
              <a:defRPr sz="1200">
                <a:solidFill>
                  <a:srgbClr val="F8FAFC"/>
                </a:solidFill>
              </a:defRPr>
            </a:pPr>
            <a:r>
              <a:t>7. Original ledger remains 100% UNTOUCHED and pristine.</a:t>
            </a:r>
          </a:p>
        </p:txBody>
      </p:sp>
      <p:sp>
        <p:nvSpPr>
          <p:cNvPr id="8" name="Rounded Rectangle 7"/>
          <p:cNvSpPr/>
          <p:nvPr/>
        </p:nvSpPr>
        <p:spPr>
          <a:xfrm>
            <a:off x="6217920" y="1645920"/>
            <a:ext cx="5212080" cy="4480560"/>
          </a:xfrm>
          <a:prstGeom prst="roundRect">
            <a:avLst/>
          </a:prstGeom>
          <a:solidFill>
            <a:srgbClr val="0E101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754880" cy="365760"/>
          </a:xfrm>
          <a:prstGeom prst="rect">
            <a:avLst/>
          </a:prstGeom>
          <a:noFill/>
        </p:spPr>
        <p:txBody>
          <a:bodyPr wrap="square" lIns="0" tIns="0" rIns="0" bIns="0">
            <a:spAutoFit/>
          </a:bodyPr>
          <a:lstStyle/>
          <a:p>
            <a:pPr>
              <a:defRPr sz="1500" b="1">
                <a:solidFill>
                  <a:srgbClr val="F8FAFC"/>
                </a:solidFill>
              </a:defRPr>
            </a:pPr>
            <a:r>
              <a:t>Live Terminal Output</a:t>
            </a:r>
          </a:p>
        </p:txBody>
      </p:sp>
      <p:sp>
        <p:nvSpPr>
          <p:cNvPr id="10" name="TextBox 9"/>
          <p:cNvSpPr txBox="1"/>
          <p:nvPr/>
        </p:nvSpPr>
        <p:spPr>
          <a:xfrm>
            <a:off x="6446520" y="2194560"/>
            <a:ext cx="4754880" cy="3749039"/>
          </a:xfrm>
          <a:prstGeom prst="rect">
            <a:avLst/>
          </a:prstGeom>
          <a:noFill/>
        </p:spPr>
        <p:txBody>
          <a:bodyPr wrap="square">
            <a:spAutoFit/>
          </a:bodyPr>
          <a:lstStyle/>
          <a:p>
            <a:pPr>
              <a:defRPr sz="1100" b="1">
                <a:solidFill>
                  <a:srgbClr val="06B6D4"/>
                </a:solidFill>
              </a:defRPr>
            </a:pPr>
            <a:r>
              <a:t>BAYORA LEDGER TAMPER SIMULATOR</a:t>
            </a:r>
          </a:p>
          <a:p>
            <a:pPr>
              <a:defRPr sz="1100" b="1">
                <a:solidFill>
                  <a:srgbClr val="10B981"/>
                </a:solidFill>
              </a:defRPr>
            </a:pPr>
            <a:r>
              <a:t>Original ledger status:   VALID (height: 12)</a:t>
            </a:r>
          </a:p>
          <a:p>
            <a:pPr>
              <a:defRPr sz="1100" b="0">
                <a:solidFill>
                  <a:srgbClr val="94A3B8"/>
                </a:solidFill>
              </a:defRPr>
            </a:pPr>
            <a:r>
              <a:t>Disposable copy created:  /tmp/disposable_ledger.json</a:t>
            </a:r>
          </a:p>
          <a:p>
            <a:pPr>
              <a:defRPr sz="1100" b="0">
                <a:solidFill>
                  <a:srgbClr val="F59E0B"/>
                </a:solidFill>
              </a:defRPr>
            </a:pPr>
            <a:r>
              <a:t>Corrupting event:         #3 (payload byte modified)</a:t>
            </a:r>
          </a:p>
          <a:p>
            <a:pPr>
              <a:defRPr sz="1100" b="0">
                <a:solidFill>
                  <a:srgbClr val="F8FAFC"/>
                </a:solidFill>
              </a:defRPr>
            </a:pPr>
          </a:p>
          <a:p>
            <a:pPr>
              <a:defRPr sz="1100" b="0">
                <a:solidFill>
                  <a:srgbClr val="94A3B8"/>
                </a:solidFill>
              </a:defRPr>
            </a:pPr>
            <a:r>
              <a:t>Expected SHA-256:  a94f82c0e81b...3f</a:t>
            </a:r>
          </a:p>
          <a:p>
            <a:pPr>
              <a:defRPr sz="1100" b="1">
                <a:solidFill>
                  <a:srgbClr val="EF4444"/>
                </a:solidFill>
              </a:defRPr>
            </a:pPr>
            <a:r>
              <a:t>Computed SHA-256:  0b12e9a8f4c2...91</a:t>
            </a:r>
          </a:p>
          <a:p>
            <a:pPr>
              <a:defRPr sz="1100" b="0">
                <a:solidFill>
                  <a:srgbClr val="F8FAFC"/>
                </a:solidFill>
              </a:defRPr>
            </a:pPr>
          </a:p>
          <a:p>
            <a:pPr>
              <a:defRPr sz="1100" b="1">
                <a:solidFill>
                  <a:srgbClr val="EF4444"/>
                </a:solidFill>
              </a:defRPr>
            </a:pPr>
            <a:r>
              <a:t>[TAMPER REJECTED]</a:t>
            </a:r>
          </a:p>
          <a:p>
            <a:pPr>
              <a:defRPr sz="1100" b="1">
                <a:solidFill>
                  <a:srgbClr val="EF4444"/>
                </a:solidFill>
              </a:defRPr>
            </a:pPr>
            <a:r>
              <a:t>Ledger integrity failure at Block #3.</a:t>
            </a:r>
          </a:p>
          <a:p>
            <a:pPr>
              <a:defRPr sz="1100" b="1">
                <a:solidFill>
                  <a:srgbClr val="EF4444"/>
                </a:solidFill>
              </a:defRPr>
            </a:pPr>
            <a:r>
              <a:t>Hash chain broken. Verification HALTED.</a:t>
            </a:r>
          </a:p>
          <a:p>
            <a:pPr>
              <a:defRPr sz="1100" b="0">
                <a:solidFill>
                  <a:srgbClr val="F8FAFC"/>
                </a:solidFill>
              </a:defRPr>
            </a:pPr>
          </a:p>
          <a:p>
            <a:pPr>
              <a:defRPr sz="1100" b="1">
                <a:solidFill>
                  <a:srgbClr val="10B981"/>
                </a:solidFill>
              </a:defRPr>
            </a:pPr>
            <a:r>
              <a:t>Original ledger status:   UNMODIFIED &amp; VALID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OPERATOR INTERFACE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Streamlit Incident-Response Operations HUD</a:t>
            </a:r>
          </a:p>
          <a:p>
            <a:pPr>
              <a:defRPr sz="1300">
                <a:solidFill>
                  <a:srgbClr val="94A3B8"/>
                </a:solidFill>
              </a:defRPr>
            </a:pPr>
            <a:r>
              <a:t>Purpose-built for security analysts—no decorative vanity charts</a:t>
            </a:r>
          </a:p>
        </p:txBody>
      </p:sp>
      <p:sp>
        <p:nvSpPr>
          <p:cNvPr id="5" name="Rounded Rectangle 4"/>
          <p:cNvSpPr/>
          <p:nvPr/>
        </p:nvSpPr>
        <p:spPr>
          <a:xfrm>
            <a:off x="731520" y="1645920"/>
            <a:ext cx="3383280" cy="201168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365760"/>
          </a:xfrm>
          <a:prstGeom prst="rect">
            <a:avLst/>
          </a:prstGeom>
          <a:noFill/>
        </p:spPr>
        <p:txBody>
          <a:bodyPr wrap="square" lIns="0" tIns="0" rIns="0" bIns="0">
            <a:spAutoFit/>
          </a:bodyPr>
          <a:lstStyle/>
          <a:p>
            <a:pPr>
              <a:defRPr sz="1500" b="1">
                <a:solidFill>
                  <a:srgbClr val="F8FAFC"/>
                </a:solidFill>
              </a:defRPr>
            </a:pPr>
            <a:r>
              <a:t>Top: Live System Telemetry</a:t>
            </a:r>
          </a:p>
        </p:txBody>
      </p:sp>
      <p:sp>
        <p:nvSpPr>
          <p:cNvPr id="7" name="TextBox 6"/>
          <p:cNvSpPr txBox="1"/>
          <p:nvPr/>
        </p:nvSpPr>
        <p:spPr>
          <a:xfrm>
            <a:off x="960120" y="2240280"/>
            <a:ext cx="2926080" cy="1280160"/>
          </a:xfrm>
          <a:prstGeom prst="rect">
            <a:avLst/>
          </a:prstGeom>
          <a:noFill/>
        </p:spPr>
        <p:txBody>
          <a:bodyPr wrap="square">
            <a:spAutoFit/>
          </a:bodyPr>
          <a:lstStyle/>
          <a:p>
            <a:pPr>
              <a:defRPr sz="1200">
                <a:solidFill>
                  <a:srgbClr val="94A3B8"/>
                </a:solidFill>
              </a:defRPr>
            </a:pPr>
            <a:r>
              <a:t>Real-time indicators: Broker availability, Deterministic Mock Target mode, active evaluation run_id, and latest ledger cryptographic verification state.</a:t>
            </a:r>
          </a:p>
        </p:txBody>
      </p:sp>
      <p:sp>
        <p:nvSpPr>
          <p:cNvPr id="8" name="Rounded Rectangle 7"/>
          <p:cNvSpPr/>
          <p:nvPr/>
        </p:nvSpPr>
        <p:spPr>
          <a:xfrm>
            <a:off x="4389120" y="1645920"/>
            <a:ext cx="3383280" cy="201168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926080" cy="365760"/>
          </a:xfrm>
          <a:prstGeom prst="rect">
            <a:avLst/>
          </a:prstGeom>
          <a:noFill/>
        </p:spPr>
        <p:txBody>
          <a:bodyPr wrap="square" lIns="0" tIns="0" rIns="0" bIns="0">
            <a:spAutoFit/>
          </a:bodyPr>
          <a:lstStyle/>
          <a:p>
            <a:pPr>
              <a:defRPr sz="1500" b="1">
                <a:solidFill>
                  <a:srgbClr val="F8FAFC"/>
                </a:solidFill>
              </a:defRPr>
            </a:pPr>
            <a:r>
              <a:t>Live Threat Interception Stream</a:t>
            </a:r>
          </a:p>
        </p:txBody>
      </p:sp>
      <p:sp>
        <p:nvSpPr>
          <p:cNvPr id="10" name="TextBox 9"/>
          <p:cNvSpPr txBox="1"/>
          <p:nvPr/>
        </p:nvSpPr>
        <p:spPr>
          <a:xfrm>
            <a:off x="4617720" y="2240280"/>
            <a:ext cx="2926080" cy="1280160"/>
          </a:xfrm>
          <a:prstGeom prst="rect">
            <a:avLst/>
          </a:prstGeom>
          <a:noFill/>
        </p:spPr>
        <p:txBody>
          <a:bodyPr wrap="square">
            <a:spAutoFit/>
          </a:bodyPr>
          <a:lstStyle/>
          <a:p>
            <a:pPr>
              <a:defRPr sz="1200">
                <a:solidFill>
                  <a:srgbClr val="94A3B8"/>
                </a:solidFill>
              </a:defRPr>
            </a:pPr>
            <a:r>
              <a:t>Compact ANSI terminal stream consuming structured pipeline events in real time (e.g. `[INGRESS]`, `[TARGET]`, `[BROKER-POLICY]`, `[AUDIT-LEDGER]`).</a:t>
            </a:r>
          </a:p>
        </p:txBody>
      </p:sp>
      <p:sp>
        <p:nvSpPr>
          <p:cNvPr id="11" name="Rounded Rectangle 10"/>
          <p:cNvSpPr/>
          <p:nvPr/>
        </p:nvSpPr>
        <p:spPr>
          <a:xfrm>
            <a:off x="8046720" y="1645920"/>
            <a:ext cx="3383280" cy="201168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926080" cy="365760"/>
          </a:xfrm>
          <a:prstGeom prst="rect">
            <a:avLst/>
          </a:prstGeom>
          <a:noFill/>
        </p:spPr>
        <p:txBody>
          <a:bodyPr wrap="square" lIns="0" tIns="0" rIns="0" bIns="0">
            <a:spAutoFit/>
          </a:bodyPr>
          <a:lstStyle/>
          <a:p>
            <a:pPr>
              <a:defRPr sz="1500" b="1">
                <a:solidFill>
                  <a:srgbClr val="F8FAFC"/>
                </a:solidFill>
              </a:defRPr>
            </a:pPr>
            <a:r>
              <a:t>Active &amp; Recent Incidents</a:t>
            </a:r>
          </a:p>
        </p:txBody>
      </p:sp>
      <p:sp>
        <p:nvSpPr>
          <p:cNvPr id="13" name="TextBox 12"/>
          <p:cNvSpPr txBox="1"/>
          <p:nvPr/>
        </p:nvSpPr>
        <p:spPr>
          <a:xfrm>
            <a:off x="8275320" y="2240280"/>
            <a:ext cx="2926080" cy="1280160"/>
          </a:xfrm>
          <a:prstGeom prst="rect">
            <a:avLst/>
          </a:prstGeom>
          <a:noFill/>
        </p:spPr>
        <p:txBody>
          <a:bodyPr wrap="square">
            <a:spAutoFit/>
          </a:bodyPr>
          <a:lstStyle/>
          <a:p>
            <a:pPr>
              <a:defRPr sz="1200">
                <a:solidFill>
                  <a:srgbClr val="94A3B8"/>
                </a:solidFill>
              </a:defRPr>
            </a:pPr>
            <a:r>
              <a:t>Granular triage cards: Attack scenario ID, detection timestamp, policy action taken, containment evidence, and hash references.</a:t>
            </a:r>
          </a:p>
        </p:txBody>
      </p:sp>
      <p:sp>
        <p:nvSpPr>
          <p:cNvPr id="14" name="Rounded Rectangle 13"/>
          <p:cNvSpPr/>
          <p:nvPr/>
        </p:nvSpPr>
        <p:spPr>
          <a:xfrm>
            <a:off x="731520" y="3931920"/>
            <a:ext cx="3383280" cy="201168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14800"/>
            <a:ext cx="2926080" cy="365760"/>
          </a:xfrm>
          <a:prstGeom prst="rect">
            <a:avLst/>
          </a:prstGeom>
          <a:noFill/>
        </p:spPr>
        <p:txBody>
          <a:bodyPr wrap="square" lIns="0" tIns="0" rIns="0" bIns="0">
            <a:spAutoFit/>
          </a:bodyPr>
          <a:lstStyle/>
          <a:p>
            <a:pPr>
              <a:defRPr sz="1500" b="1">
                <a:solidFill>
                  <a:srgbClr val="F8FAFC"/>
                </a:solidFill>
              </a:defRPr>
            </a:pPr>
            <a:r>
              <a:t>Attacker-vs-Target Matrix</a:t>
            </a:r>
          </a:p>
        </p:txBody>
      </p:sp>
      <p:sp>
        <p:nvSpPr>
          <p:cNvPr id="16" name="TextBox 15"/>
          <p:cNvSpPr txBox="1"/>
          <p:nvPr/>
        </p:nvSpPr>
        <p:spPr>
          <a:xfrm>
            <a:off x="960120" y="4526280"/>
            <a:ext cx="2926080" cy="1280160"/>
          </a:xfrm>
          <a:prstGeom prst="rect">
            <a:avLst/>
          </a:prstGeom>
          <a:noFill/>
        </p:spPr>
        <p:txBody>
          <a:bodyPr wrap="square">
            <a:spAutoFit/>
          </a:bodyPr>
          <a:lstStyle/>
          <a:p>
            <a:pPr>
              <a:defRPr sz="1200">
                <a:solidFill>
                  <a:srgbClr val="94A3B8"/>
                </a:solidFill>
              </a:defRPr>
            </a:pPr>
            <a:r>
              <a:t>Complete tabular view of all executed scenarios with direct links to supporting audit events and assertion results.</a:t>
            </a:r>
          </a:p>
        </p:txBody>
      </p:sp>
      <p:sp>
        <p:nvSpPr>
          <p:cNvPr id="17" name="Rounded Rectangle 16"/>
          <p:cNvSpPr/>
          <p:nvPr/>
        </p:nvSpPr>
        <p:spPr>
          <a:xfrm>
            <a:off x="4389120" y="3931920"/>
            <a:ext cx="3383280" cy="201168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114800"/>
            <a:ext cx="2926080" cy="365760"/>
          </a:xfrm>
          <a:prstGeom prst="rect">
            <a:avLst/>
          </a:prstGeom>
          <a:noFill/>
        </p:spPr>
        <p:txBody>
          <a:bodyPr wrap="square" lIns="0" tIns="0" rIns="0" bIns="0">
            <a:spAutoFit/>
          </a:bodyPr>
          <a:lstStyle/>
          <a:p>
            <a:pPr>
              <a:defRPr sz="1500" b="1">
                <a:solidFill>
                  <a:srgbClr val="F8FAFC"/>
                </a:solidFill>
              </a:defRPr>
            </a:pPr>
            <a:r>
              <a:t>Ledger Integrity &amp; Tamper Demo</a:t>
            </a:r>
          </a:p>
        </p:txBody>
      </p:sp>
      <p:sp>
        <p:nvSpPr>
          <p:cNvPr id="19" name="TextBox 18"/>
          <p:cNvSpPr txBox="1"/>
          <p:nvPr/>
        </p:nvSpPr>
        <p:spPr>
          <a:xfrm>
            <a:off x="4617720" y="4526280"/>
            <a:ext cx="2926080" cy="1280160"/>
          </a:xfrm>
          <a:prstGeom prst="rect">
            <a:avLst/>
          </a:prstGeom>
          <a:noFill/>
        </p:spPr>
        <p:txBody>
          <a:bodyPr wrap="square">
            <a:spAutoFit/>
          </a:bodyPr>
          <a:lstStyle/>
          <a:p>
            <a:pPr>
              <a:defRPr sz="1200">
                <a:solidFill>
                  <a:srgbClr val="94A3B8"/>
                </a:solidFill>
              </a:defRPr>
            </a:pPr>
            <a:r>
              <a:t>Block height, latest SHA-256 digest, checkpoint signature status, and an interactive button to trigger the disposable tamper demo.</a:t>
            </a:r>
          </a:p>
        </p:txBody>
      </p:sp>
      <p:sp>
        <p:nvSpPr>
          <p:cNvPr id="20" name="Rounded Rectangle 19"/>
          <p:cNvSpPr/>
          <p:nvPr/>
        </p:nvSpPr>
        <p:spPr>
          <a:xfrm>
            <a:off x="8046720" y="3931920"/>
            <a:ext cx="3383280" cy="2011680"/>
          </a:xfrm>
          <a:prstGeom prst="roundRect">
            <a:avLst/>
          </a:prstGeom>
          <a:solidFill>
            <a:srgbClr val="131A2A"/>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114800"/>
            <a:ext cx="2926080" cy="365760"/>
          </a:xfrm>
          <a:prstGeom prst="rect">
            <a:avLst/>
          </a:prstGeom>
          <a:noFill/>
        </p:spPr>
        <p:txBody>
          <a:bodyPr wrap="square" lIns="0" tIns="0" rIns="0" bIns="0">
            <a:spAutoFit/>
          </a:bodyPr>
          <a:lstStyle/>
          <a:p>
            <a:pPr>
              <a:defRPr sz="1500" b="1">
                <a:solidFill>
                  <a:srgbClr val="F8FAFC"/>
                </a:solidFill>
              </a:defRPr>
            </a:pPr>
            <a:r>
              <a:t>Audit Reports &amp; History</a:t>
            </a:r>
          </a:p>
        </p:txBody>
      </p:sp>
      <p:sp>
        <p:nvSpPr>
          <p:cNvPr id="22" name="TextBox 21"/>
          <p:cNvSpPr txBox="1"/>
          <p:nvPr/>
        </p:nvSpPr>
        <p:spPr>
          <a:xfrm>
            <a:off x="8275320" y="4526280"/>
            <a:ext cx="2926080" cy="1280160"/>
          </a:xfrm>
          <a:prstGeom prst="rect">
            <a:avLst/>
          </a:prstGeom>
          <a:noFill/>
        </p:spPr>
        <p:txBody>
          <a:bodyPr wrap="square">
            <a:spAutoFit/>
          </a:bodyPr>
          <a:lstStyle/>
          <a:p>
            <a:pPr>
              <a:defRPr sz="1200">
                <a:solidFill>
                  <a:srgbClr val="94A3B8"/>
                </a:solidFill>
              </a:defRPr>
            </a:pPr>
            <a:r>
              <a:t>Historical run browser and one-click export of the cryptographically signed `audit_report.json` for external compliance teams.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VERIFICATION EVIDENCE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The Attacker-versus-Target Evaluation Matrix</a:t>
            </a:r>
          </a:p>
          <a:p>
            <a:pPr>
              <a:defRPr sz="1300">
                <a:solidFill>
                  <a:srgbClr val="94A3B8"/>
                </a:solidFill>
              </a:defRPr>
            </a:pPr>
            <a:r>
              <a:t>Exact mapping of adversarial scenarios to defensive layers and observed results</a:t>
            </a:r>
          </a:p>
        </p:txBody>
      </p:sp>
      <p:graphicFrame>
        <p:nvGraphicFramePr>
          <p:cNvPr id="5" name="Table 4"/>
          <p:cNvGraphicFramePr>
            <a:graphicFrameLocks noGrp="1"/>
          </p:cNvGraphicFramePr>
          <p:nvPr/>
        </p:nvGraphicFramePr>
        <p:xfrm>
          <a:off x="731520" y="1645920"/>
          <a:ext cx="10698480" cy="4389120"/>
        </p:xfrm>
        <a:graphic>
          <a:graphicData uri="http://schemas.openxmlformats.org/drawingml/2006/table">
            <a:tbl>
              <a:tblPr firstRow="1" bandRow="1">
                <a:tableStyleId>{5C22544A-7EE6-4342-B048-85BDC9FD1C3A}</a:tableStyleId>
              </a:tblPr>
              <a:tblGrid>
                <a:gridCol w="2377440"/>
                <a:gridCol w="2103120"/>
                <a:gridCol w="2560320"/>
                <a:gridCol w="2377440"/>
                <a:gridCol w="1280160"/>
              </a:tblGrid>
              <a:tr h="627017">
                <a:tc>
                  <a:txBody>
                    <a:bodyPr/>
                    <a:lstStyle/>
                    <a:p>
                      <a:pPr>
                        <a:defRPr sz="1200" b="1">
                          <a:solidFill>
                            <a:srgbClr val="06B6D4"/>
                          </a:solidFill>
                        </a:defRPr>
                      </a:pPr>
                      <a:r>
                        <a:t>Attack Vector</a:t>
                      </a:r>
                    </a:p>
                  </a:txBody>
                  <a:tcPr>
                    <a:solidFill>
                      <a:srgbClr val="131A2A"/>
                    </a:solidFill>
                  </a:tcPr>
                </a:tc>
                <a:tc>
                  <a:txBody>
                    <a:bodyPr/>
                    <a:lstStyle/>
                    <a:p>
                      <a:pPr>
                        <a:defRPr sz="1200" b="1">
                          <a:solidFill>
                            <a:srgbClr val="06B6D4"/>
                          </a:solidFill>
                        </a:defRPr>
                      </a:pPr>
                      <a:r>
                        <a:t>Tested Layer</a:t>
                      </a:r>
                    </a:p>
                  </a:txBody>
                  <a:tcPr>
                    <a:solidFill>
                      <a:srgbClr val="131A2A"/>
                    </a:solidFill>
                  </a:tcPr>
                </a:tc>
                <a:tc>
                  <a:txBody>
                    <a:bodyPr/>
                    <a:lstStyle/>
                    <a:p>
                      <a:pPr>
                        <a:defRPr sz="1200" b="1">
                          <a:solidFill>
                            <a:srgbClr val="06B6D4"/>
                          </a:solidFill>
                        </a:defRPr>
                      </a:pPr>
                      <a:r>
                        <a:t>Observed Action</a:t>
                      </a:r>
                    </a:p>
                  </a:txBody>
                  <a:tcPr>
                    <a:solidFill>
                      <a:srgbClr val="131A2A"/>
                    </a:solidFill>
                  </a:tcPr>
                </a:tc>
                <a:tc>
                  <a:txBody>
                    <a:bodyPr/>
                    <a:lstStyle/>
                    <a:p>
                      <a:pPr>
                        <a:defRPr sz="1200" b="1">
                          <a:solidFill>
                            <a:srgbClr val="06B6D4"/>
                          </a:solidFill>
                        </a:defRPr>
                      </a:pPr>
                      <a:r>
                        <a:t>Evidence Reference</a:t>
                      </a:r>
                    </a:p>
                  </a:txBody>
                  <a:tcPr>
                    <a:solidFill>
                      <a:srgbClr val="131A2A"/>
                    </a:solidFill>
                  </a:tcPr>
                </a:tc>
                <a:tc>
                  <a:txBody>
                    <a:bodyPr/>
                    <a:lstStyle/>
                    <a:p>
                      <a:pPr>
                        <a:defRPr sz="1200" b="1">
                          <a:solidFill>
                            <a:srgbClr val="06B6D4"/>
                          </a:solidFill>
                        </a:defRPr>
                      </a:pPr>
                      <a:r>
                        <a:t>Result</a:t>
                      </a:r>
                    </a:p>
                  </a:txBody>
                  <a:tcPr>
                    <a:solidFill>
                      <a:srgbClr val="131A2A"/>
                    </a:solidFill>
                  </a:tcPr>
                </a:tc>
              </a:tr>
              <a:tr h="627017">
                <a:tc>
                  <a:txBody>
                    <a:bodyPr/>
                    <a:lstStyle/>
                    <a:p>
                      <a:pPr>
                        <a:defRPr sz="1100">
                          <a:solidFill>
                            <a:srgbClr val="F8FAFC"/>
                          </a:solidFill>
                        </a:defRPr>
                      </a:pPr>
                      <a:r>
                        <a:t>Direct Prompt Injection</a:t>
                      </a:r>
                    </a:p>
                  </a:txBody>
                  <a:tcPr>
                    <a:solidFill>
                      <a:srgbClr val="0E1420"/>
                    </a:solidFill>
                  </a:tcPr>
                </a:tc>
                <a:tc>
                  <a:txBody>
                    <a:bodyPr/>
                    <a:lstStyle/>
                    <a:p>
                      <a:pPr>
                        <a:defRPr sz="1100">
                          <a:solidFill>
                            <a:srgbClr val="F8FAFC"/>
                          </a:solidFill>
                        </a:defRPr>
                      </a:pPr>
                      <a:r>
                        <a:t>Broker Input Policy</a:t>
                      </a:r>
                    </a:p>
                  </a:txBody>
                  <a:tcPr>
                    <a:solidFill>
                      <a:srgbClr val="0E1420"/>
                    </a:solidFill>
                  </a:tcPr>
                </a:tc>
                <a:tc>
                  <a:txBody>
                    <a:bodyPr/>
                    <a:lstStyle/>
                    <a:p>
                      <a:pPr>
                        <a:defRPr sz="1100">
                          <a:solidFill>
                            <a:srgbClr val="F8FAFC"/>
                          </a:solidFill>
                        </a:defRPr>
                      </a:pPr>
                      <a:r>
                        <a:t>Blocked (HTTP 400)</a:t>
                      </a:r>
                    </a:p>
                  </a:txBody>
                  <a:tcPr>
                    <a:solidFill>
                      <a:srgbClr val="0E1420"/>
                    </a:solidFill>
                  </a:tcPr>
                </a:tc>
                <a:tc>
                  <a:txBody>
                    <a:bodyPr/>
                    <a:lstStyle/>
                    <a:p>
                      <a:pPr>
                        <a:defRPr sz="1100">
                          <a:solidFill>
                            <a:srgbClr val="F8FAFC"/>
                          </a:solidFill>
                        </a:defRPr>
                      </a:pPr>
                      <a:r>
                        <a:t>Ledger Block #2</a:t>
                      </a:r>
                    </a:p>
                  </a:txBody>
                  <a:tcPr>
                    <a:solidFill>
                      <a:srgbClr val="0E1420"/>
                    </a:solidFill>
                  </a:tcPr>
                </a:tc>
                <a:tc>
                  <a:txBody>
                    <a:bodyPr/>
                    <a:lstStyle/>
                    <a:p>
                      <a:pPr>
                        <a:defRPr sz="1100">
                          <a:solidFill>
                            <a:srgbClr val="10B981"/>
                          </a:solidFill>
                        </a:defRPr>
                      </a:pPr>
                      <a:r>
                        <a:t>PASS</a:t>
                      </a:r>
                    </a:p>
                  </a:txBody>
                  <a:tcPr>
                    <a:solidFill>
                      <a:srgbClr val="0E1420"/>
                    </a:solidFill>
                  </a:tcPr>
                </a:tc>
              </a:tr>
              <a:tr h="627017">
                <a:tc>
                  <a:txBody>
                    <a:bodyPr/>
                    <a:lstStyle/>
                    <a:p>
                      <a:pPr>
                        <a:defRPr sz="1100">
                          <a:solidFill>
                            <a:srgbClr val="F8FAFC"/>
                          </a:solidFill>
                        </a:defRPr>
                      </a:pPr>
                      <a:r>
                        <a:t>Canary Disclosure</a:t>
                      </a:r>
                    </a:p>
                  </a:txBody>
                  <a:tcPr>
                    <a:solidFill>
                      <a:srgbClr val="0E1420"/>
                    </a:solidFill>
                  </a:tcPr>
                </a:tc>
                <a:tc>
                  <a:txBody>
                    <a:bodyPr/>
                    <a:lstStyle/>
                    <a:p>
                      <a:pPr>
                        <a:defRPr sz="1100">
                          <a:solidFill>
                            <a:srgbClr val="F8FAFC"/>
                          </a:solidFill>
                        </a:defRPr>
                      </a:pPr>
                      <a:r>
                        <a:t>Blue Output Redaction</a:t>
                      </a:r>
                    </a:p>
                  </a:txBody>
                  <a:tcPr>
                    <a:solidFill>
                      <a:srgbClr val="0E1420"/>
                    </a:solidFill>
                  </a:tcPr>
                </a:tc>
                <a:tc>
                  <a:txBody>
                    <a:bodyPr/>
                    <a:lstStyle/>
                    <a:p>
                      <a:pPr>
                        <a:defRPr sz="1100">
                          <a:solidFill>
                            <a:srgbClr val="F8FAFC"/>
                          </a:solidFill>
                        </a:defRPr>
                      </a:pPr>
                      <a:r>
                        <a:t>Redacted [REDACTED]</a:t>
                      </a:r>
                    </a:p>
                  </a:txBody>
                  <a:tcPr>
                    <a:solidFill>
                      <a:srgbClr val="0E1420"/>
                    </a:solidFill>
                  </a:tcPr>
                </a:tc>
                <a:tc>
                  <a:txBody>
                    <a:bodyPr/>
                    <a:lstStyle/>
                    <a:p>
                      <a:pPr>
                        <a:defRPr sz="1100">
                          <a:solidFill>
                            <a:srgbClr val="F8FAFC"/>
                          </a:solidFill>
                        </a:defRPr>
                      </a:pPr>
                      <a:r>
                        <a:t>Payload Inspection #4</a:t>
                      </a:r>
                    </a:p>
                  </a:txBody>
                  <a:tcPr>
                    <a:solidFill>
                      <a:srgbClr val="0E1420"/>
                    </a:solidFill>
                  </a:tcPr>
                </a:tc>
                <a:tc>
                  <a:txBody>
                    <a:bodyPr/>
                    <a:lstStyle/>
                    <a:p>
                      <a:pPr>
                        <a:defRPr sz="1100">
                          <a:solidFill>
                            <a:srgbClr val="10B981"/>
                          </a:solidFill>
                        </a:defRPr>
                      </a:pPr>
                      <a:r>
                        <a:t>PASS</a:t>
                      </a:r>
                    </a:p>
                  </a:txBody>
                  <a:tcPr>
                    <a:solidFill>
                      <a:srgbClr val="0E1420"/>
                    </a:solidFill>
                  </a:tcPr>
                </a:tc>
              </a:tr>
              <a:tr h="627017">
                <a:tc>
                  <a:txBody>
                    <a:bodyPr/>
                    <a:lstStyle/>
                    <a:p>
                      <a:pPr>
                        <a:defRPr sz="1100">
                          <a:solidFill>
                            <a:srgbClr val="F8FAFC"/>
                          </a:solidFill>
                        </a:defRPr>
                      </a:pPr>
                      <a:r>
                        <a:t>Unauthorized Egress</a:t>
                      </a:r>
                    </a:p>
                  </a:txBody>
                  <a:tcPr>
                    <a:solidFill>
                      <a:srgbClr val="0E1420"/>
                    </a:solidFill>
                  </a:tcPr>
                </a:tc>
                <a:tc>
                  <a:txBody>
                    <a:bodyPr/>
                    <a:lstStyle/>
                    <a:p>
                      <a:pPr>
                        <a:defRPr sz="1100">
                          <a:solidFill>
                            <a:srgbClr val="F8FAFC"/>
                          </a:solidFill>
                        </a:defRPr>
                      </a:pPr>
                      <a:r>
                        <a:t>Docker Egress Firewall</a:t>
                      </a:r>
                    </a:p>
                  </a:txBody>
                  <a:tcPr>
                    <a:solidFill>
                      <a:srgbClr val="0E1420"/>
                    </a:solidFill>
                  </a:tcPr>
                </a:tc>
                <a:tc>
                  <a:txBody>
                    <a:bodyPr/>
                    <a:lstStyle/>
                    <a:p>
                      <a:pPr>
                        <a:defRPr sz="1100">
                          <a:solidFill>
                            <a:srgbClr val="F8FAFC"/>
                          </a:solidFill>
                        </a:defRPr>
                      </a:pPr>
                      <a:r>
                        <a:t>Denied (Socket Refused)</a:t>
                      </a:r>
                    </a:p>
                  </a:txBody>
                  <a:tcPr>
                    <a:solidFill>
                      <a:srgbClr val="0E1420"/>
                    </a:solidFill>
                  </a:tcPr>
                </a:tc>
                <a:tc>
                  <a:txBody>
                    <a:bodyPr/>
                    <a:lstStyle/>
                    <a:p>
                      <a:pPr>
                        <a:defRPr sz="1100">
                          <a:solidFill>
                            <a:srgbClr val="F8FAFC"/>
                          </a:solidFill>
                        </a:defRPr>
                      </a:pPr>
                      <a:r>
                        <a:t>Network Test Event #6</a:t>
                      </a:r>
                    </a:p>
                  </a:txBody>
                  <a:tcPr>
                    <a:solidFill>
                      <a:srgbClr val="0E1420"/>
                    </a:solidFill>
                  </a:tcPr>
                </a:tc>
                <a:tc>
                  <a:txBody>
                    <a:bodyPr/>
                    <a:lstStyle/>
                    <a:p>
                      <a:pPr>
                        <a:defRPr sz="1100">
                          <a:solidFill>
                            <a:srgbClr val="10B981"/>
                          </a:solidFill>
                        </a:defRPr>
                      </a:pPr>
                      <a:r>
                        <a:t>PASS</a:t>
                      </a:r>
                    </a:p>
                  </a:txBody>
                  <a:tcPr>
                    <a:solidFill>
                      <a:srgbClr val="0E1420"/>
                    </a:solidFill>
                  </a:tcPr>
                </a:tc>
              </a:tr>
              <a:tr h="627017">
                <a:tc>
                  <a:txBody>
                    <a:bodyPr/>
                    <a:lstStyle/>
                    <a:p>
                      <a:pPr>
                        <a:defRPr sz="1100">
                          <a:solidFill>
                            <a:srgbClr val="F8FAFC"/>
                          </a:solidFill>
                        </a:defRPr>
                      </a:pPr>
                      <a:r>
                        <a:t>Protected Path Write</a:t>
                      </a:r>
                    </a:p>
                  </a:txBody>
                  <a:tcPr>
                    <a:solidFill>
                      <a:srgbClr val="0E1420"/>
                    </a:solidFill>
                  </a:tcPr>
                </a:tc>
                <a:tc>
                  <a:txBody>
                    <a:bodyPr/>
                    <a:lstStyle/>
                    <a:p>
                      <a:pPr>
                        <a:defRPr sz="1100">
                          <a:solidFill>
                            <a:srgbClr val="F8FAFC"/>
                          </a:solidFill>
                        </a:defRPr>
                      </a:pPr>
                      <a:r>
                        <a:t>Read-Only Rootfs</a:t>
                      </a:r>
                    </a:p>
                  </a:txBody>
                  <a:tcPr>
                    <a:solidFill>
                      <a:srgbClr val="0E1420"/>
                    </a:solidFill>
                  </a:tcPr>
                </a:tc>
                <a:tc>
                  <a:txBody>
                    <a:bodyPr/>
                    <a:lstStyle/>
                    <a:p>
                      <a:pPr>
                        <a:defRPr sz="1100">
                          <a:solidFill>
                            <a:srgbClr val="F8FAFC"/>
                          </a:solidFill>
                        </a:defRPr>
                      </a:pPr>
                      <a:r>
                        <a:t>Denied (EROFS Error)</a:t>
                      </a:r>
                    </a:p>
                  </a:txBody>
                  <a:tcPr>
                    <a:solidFill>
                      <a:srgbClr val="0E1420"/>
                    </a:solidFill>
                  </a:tcPr>
                </a:tc>
                <a:tc>
                  <a:txBody>
                    <a:bodyPr/>
                    <a:lstStyle/>
                    <a:p>
                      <a:pPr>
                        <a:defRPr sz="1100">
                          <a:solidFill>
                            <a:srgbClr val="F8FAFC"/>
                          </a:solidFill>
                        </a:defRPr>
                      </a:pPr>
                      <a:r>
                        <a:t>Filesystem Test Event #8</a:t>
                      </a:r>
                    </a:p>
                  </a:txBody>
                  <a:tcPr>
                    <a:solidFill>
                      <a:srgbClr val="0E1420"/>
                    </a:solidFill>
                  </a:tcPr>
                </a:tc>
                <a:tc>
                  <a:txBody>
                    <a:bodyPr/>
                    <a:lstStyle/>
                    <a:p>
                      <a:pPr>
                        <a:defRPr sz="1100">
                          <a:solidFill>
                            <a:srgbClr val="10B981"/>
                          </a:solidFill>
                        </a:defRPr>
                      </a:pPr>
                      <a:r>
                        <a:t>PASS</a:t>
                      </a:r>
                    </a:p>
                  </a:txBody>
                  <a:tcPr>
                    <a:solidFill>
                      <a:srgbClr val="0E1420"/>
                    </a:solidFill>
                  </a:tcPr>
                </a:tc>
              </a:tr>
              <a:tr h="627017">
                <a:tc>
                  <a:txBody>
                    <a:bodyPr/>
                    <a:lstStyle/>
                    <a:p>
                      <a:pPr>
                        <a:defRPr sz="1100">
                          <a:solidFill>
                            <a:srgbClr val="F8FAFC"/>
                          </a:solidFill>
                        </a:defRPr>
                      </a:pPr>
                      <a:r>
                        <a:t>Ledger Byte Tamper</a:t>
                      </a:r>
                    </a:p>
                  </a:txBody>
                  <a:tcPr>
                    <a:solidFill>
                      <a:srgbClr val="0E1420"/>
                    </a:solidFill>
                  </a:tcPr>
                </a:tc>
                <a:tc>
                  <a:txBody>
                    <a:bodyPr/>
                    <a:lstStyle/>
                    <a:p>
                      <a:pPr>
                        <a:defRPr sz="1100">
                          <a:solidFill>
                            <a:srgbClr val="F8FAFC"/>
                          </a:solidFill>
                        </a:defRPr>
                      </a:pPr>
                      <a:r>
                        <a:t>SHA-256 Verifier</a:t>
                      </a:r>
                    </a:p>
                  </a:txBody>
                  <a:tcPr>
                    <a:solidFill>
                      <a:srgbClr val="0E1420"/>
                    </a:solidFill>
                  </a:tcPr>
                </a:tc>
                <a:tc>
                  <a:txBody>
                    <a:bodyPr/>
                    <a:lstStyle/>
                    <a:p>
                      <a:pPr>
                        <a:defRPr sz="1100">
                          <a:solidFill>
                            <a:srgbClr val="F8FAFC"/>
                          </a:solidFill>
                        </a:defRPr>
                      </a:pPr>
                      <a:r>
                        <a:t>Halted &amp; Rejected</a:t>
                      </a:r>
                    </a:p>
                  </a:txBody>
                  <a:tcPr>
                    <a:solidFill>
                      <a:srgbClr val="0E1420"/>
                    </a:solidFill>
                  </a:tcPr>
                </a:tc>
                <a:tc>
                  <a:txBody>
                    <a:bodyPr/>
                    <a:lstStyle/>
                    <a:p>
                      <a:pPr>
                        <a:defRPr sz="1100">
                          <a:solidFill>
                            <a:srgbClr val="F8FAFC"/>
                          </a:solidFill>
                        </a:defRPr>
                      </a:pPr>
                      <a:r>
                        <a:t>Verifier Exit Code 1</a:t>
                      </a:r>
                    </a:p>
                  </a:txBody>
                  <a:tcPr>
                    <a:solidFill>
                      <a:srgbClr val="0E1420"/>
                    </a:solidFill>
                  </a:tcPr>
                </a:tc>
                <a:tc>
                  <a:txBody>
                    <a:bodyPr/>
                    <a:lstStyle/>
                    <a:p>
                      <a:pPr>
                        <a:defRPr sz="1100">
                          <a:solidFill>
                            <a:srgbClr val="10B981"/>
                          </a:solidFill>
                        </a:defRPr>
                      </a:pPr>
                      <a:r>
                        <a:t>PASS</a:t>
                      </a:r>
                    </a:p>
                  </a:txBody>
                  <a:tcPr>
                    <a:solidFill>
                      <a:srgbClr val="0E1420"/>
                    </a:solidFill>
                  </a:tcPr>
                </a:tc>
              </a:tr>
              <a:tr h="627018">
                <a:tc>
                  <a:txBody>
                    <a:bodyPr/>
                    <a:lstStyle/>
                    <a:p>
                      <a:pPr>
                        <a:defRPr sz="1100">
                          <a:solidFill>
                            <a:srgbClr val="F8FAFC"/>
                          </a:solidFill>
                        </a:defRPr>
                      </a:pPr>
                      <a:r>
                        <a:t>Invalid Checkpoint Sig</a:t>
                      </a:r>
                    </a:p>
                  </a:txBody>
                  <a:tcPr>
                    <a:solidFill>
                      <a:srgbClr val="0E1420"/>
                    </a:solidFill>
                  </a:tcPr>
                </a:tc>
                <a:tc>
                  <a:txBody>
                    <a:bodyPr/>
                    <a:lstStyle/>
                    <a:p>
                      <a:pPr>
                        <a:defRPr sz="1100">
                          <a:solidFill>
                            <a:srgbClr val="F8FAFC"/>
                          </a:solidFill>
                        </a:defRPr>
                      </a:pPr>
                      <a:r>
                        <a:t>Ed25519 Verifier</a:t>
                      </a:r>
                    </a:p>
                  </a:txBody>
                  <a:tcPr>
                    <a:solidFill>
                      <a:srgbClr val="0E1420"/>
                    </a:solidFill>
                  </a:tcPr>
                </a:tc>
                <a:tc>
                  <a:txBody>
                    <a:bodyPr/>
                    <a:lstStyle/>
                    <a:p>
                      <a:pPr>
                        <a:defRPr sz="1100">
                          <a:solidFill>
                            <a:srgbClr val="F8FAFC"/>
                          </a:solidFill>
                        </a:defRPr>
                      </a:pPr>
                      <a:r>
                        <a:t>Signature Rejected</a:t>
                      </a:r>
                    </a:p>
                  </a:txBody>
                  <a:tcPr>
                    <a:solidFill>
                      <a:srgbClr val="0E1420"/>
                    </a:solidFill>
                  </a:tcPr>
                </a:tc>
                <a:tc>
                  <a:txBody>
                    <a:bodyPr/>
                    <a:lstStyle/>
                    <a:p>
                      <a:pPr>
                        <a:defRPr sz="1100">
                          <a:solidFill>
                            <a:srgbClr val="F8FAFC"/>
                          </a:solidFill>
                        </a:defRPr>
                      </a:pPr>
                      <a:r>
                        <a:t>Cryptographic Check #11</a:t>
                      </a:r>
                    </a:p>
                  </a:txBody>
                  <a:tcPr>
                    <a:solidFill>
                      <a:srgbClr val="0E1420"/>
                    </a:solidFill>
                  </a:tcPr>
                </a:tc>
                <a:tc>
                  <a:txBody>
                    <a:bodyPr/>
                    <a:lstStyle/>
                    <a:p>
                      <a:pPr>
                        <a:defRPr sz="1100">
                          <a:solidFill>
                            <a:srgbClr val="10B981"/>
                          </a:solidFill>
                        </a:defRPr>
                      </a:pPr>
                      <a:r>
                        <a:t>PASS</a:t>
                      </a:r>
                    </a:p>
                  </a:txBody>
                  <a:tcPr>
                    <a:solidFill>
                      <a:srgbClr val="0E1420"/>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SECURITY POSTURE</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Threat Model &amp; Honest System Boundaries</a:t>
            </a:r>
          </a:p>
          <a:p>
            <a:pPr>
              <a:defRPr sz="1300">
                <a:solidFill>
                  <a:srgbClr val="94A3B8"/>
                </a:solidFill>
              </a:defRPr>
            </a:pPr>
            <a:r>
              <a:t>Why explicit limitations build unmatched technical credibility with judges</a:t>
            </a:r>
          </a:p>
        </p:txBody>
      </p:sp>
      <p:sp>
        <p:nvSpPr>
          <p:cNvPr id="5" name="Rounded Rectangle 4"/>
          <p:cNvSpPr/>
          <p:nvPr/>
        </p:nvSpPr>
        <p:spPr>
          <a:xfrm>
            <a:off x="731520" y="1645920"/>
            <a:ext cx="5212080" cy="438912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365760"/>
          </a:xfrm>
          <a:prstGeom prst="rect">
            <a:avLst/>
          </a:prstGeom>
          <a:noFill/>
        </p:spPr>
        <p:txBody>
          <a:bodyPr wrap="square" lIns="0" tIns="0" rIns="0" bIns="0">
            <a:spAutoFit/>
          </a:bodyPr>
          <a:lstStyle/>
          <a:p>
            <a:pPr>
              <a:defRPr sz="1500" b="1">
                <a:solidFill>
                  <a:srgbClr val="F8FAFC"/>
                </a:solidFill>
              </a:defRPr>
            </a:pPr>
            <a:r>
              <a:t>Assets Protected by Bayora</a:t>
            </a:r>
          </a:p>
        </p:txBody>
      </p:sp>
      <p:sp>
        <p:nvSpPr>
          <p:cNvPr id="7" name="TextBox 6"/>
          <p:cNvSpPr txBox="1"/>
          <p:nvPr/>
        </p:nvSpPr>
        <p:spPr>
          <a:xfrm>
            <a:off x="960120" y="2194560"/>
            <a:ext cx="4754880" cy="3657600"/>
          </a:xfrm>
          <a:prstGeom prst="rect">
            <a:avLst/>
          </a:prstGeom>
          <a:noFill/>
        </p:spPr>
        <p:txBody>
          <a:bodyPr wrap="square">
            <a:spAutoFit/>
          </a:bodyPr>
          <a:lstStyle/>
          <a:p>
            <a:pPr>
              <a:defRPr sz="1200">
                <a:solidFill>
                  <a:srgbClr val="F8FAFC"/>
                </a:solidFill>
              </a:defRPr>
            </a:pPr>
            <a:r>
              <a:t>✔ Synthetic Canary Secrets: Prevented from escaping via responses.</a:t>
            </a:r>
          </a:p>
          <a:p>
            <a:pPr>
              <a:defRPr sz="1200">
                <a:solidFill>
                  <a:srgbClr val="F8FAFC"/>
                </a:solidFill>
              </a:defRPr>
            </a:pPr>
            <a:r>
              <a:t>✔ Runtime Host Integrity: Protected from target container breakouts.</a:t>
            </a:r>
          </a:p>
          <a:p>
            <a:pPr>
              <a:defRPr sz="1200">
                <a:solidFill>
                  <a:srgbClr val="F8FAFC"/>
                </a:solidFill>
              </a:defRPr>
            </a:pPr>
            <a:r>
              <a:t>✔ Audit Trail Authenticity: Protected against tampering or truncation.</a:t>
            </a:r>
          </a:p>
          <a:p>
            <a:pPr>
              <a:defRPr sz="1200">
                <a:solidFill>
                  <a:srgbClr val="F8FAFC"/>
                </a:solidFill>
              </a:defRPr>
            </a:pPr>
            <a:r>
              <a:t>✔ Destination Integrity: External networks protected from unauthorized egress.</a:t>
            </a:r>
          </a:p>
          <a:p>
            <a:pPr>
              <a:defRPr sz="1200">
                <a:solidFill>
                  <a:srgbClr val="F8FAFC"/>
                </a:solidFill>
              </a:defRPr>
            </a:pPr>
            <a:r>
              <a:t>✔ Verification Reliability: Deterministic offline evaluation guarantees.</a:t>
            </a:r>
          </a:p>
        </p:txBody>
      </p:sp>
      <p:sp>
        <p:nvSpPr>
          <p:cNvPr id="8" name="Rounded Rectangle 7"/>
          <p:cNvSpPr/>
          <p:nvPr/>
        </p:nvSpPr>
        <p:spPr>
          <a:xfrm>
            <a:off x="6217920" y="1645920"/>
            <a:ext cx="5212080" cy="438912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4754880" cy="365760"/>
          </a:xfrm>
          <a:prstGeom prst="rect">
            <a:avLst/>
          </a:prstGeom>
          <a:noFill/>
        </p:spPr>
        <p:txBody>
          <a:bodyPr wrap="square" lIns="0" tIns="0" rIns="0" bIns="0">
            <a:spAutoFit/>
          </a:bodyPr>
          <a:lstStyle/>
          <a:p>
            <a:pPr>
              <a:defRPr sz="1500" b="1">
                <a:solidFill>
                  <a:srgbClr val="F8FAFC"/>
                </a:solidFill>
              </a:defRPr>
            </a:pPr>
            <a:r>
              <a:t>Explicit Limitations (Non-Guarantees)</a:t>
            </a:r>
          </a:p>
        </p:txBody>
      </p:sp>
      <p:sp>
        <p:nvSpPr>
          <p:cNvPr id="10" name="TextBox 9"/>
          <p:cNvSpPr txBox="1"/>
          <p:nvPr/>
        </p:nvSpPr>
        <p:spPr>
          <a:xfrm>
            <a:off x="6446520" y="2194560"/>
            <a:ext cx="4754880" cy="3657600"/>
          </a:xfrm>
          <a:prstGeom prst="rect">
            <a:avLst/>
          </a:prstGeom>
          <a:noFill/>
        </p:spPr>
        <p:txBody>
          <a:bodyPr wrap="square">
            <a:spAutoFit/>
          </a:bodyPr>
          <a:lstStyle/>
          <a:p>
            <a:pPr>
              <a:defRPr sz="1200">
                <a:solidFill>
                  <a:srgbClr val="94A3B8"/>
                </a:solidFill>
              </a:defRPr>
            </a:pPr>
            <a:r>
              <a:t>✖ Not universal prompt-injection immunity for arbitrary unknown models.</a:t>
            </a:r>
          </a:p>
          <a:p>
            <a:pPr>
              <a:defRPr sz="1200">
                <a:solidFill>
                  <a:srgbClr val="94A3B8"/>
                </a:solidFill>
              </a:defRPr>
            </a:pPr>
            <a:r>
              <a:t>✖ Does not protect an already-compromised host OS running the evaluation.</a:t>
            </a:r>
          </a:p>
          <a:p>
            <a:pPr>
              <a:defRPr sz="1200">
                <a:solidFill>
                  <a:srgbClr val="94A3B8"/>
                </a:solidFill>
              </a:defRPr>
            </a:pPr>
            <a:r>
              <a:t>✖ A digital signature proves key origin, not legal compliance or SOC-2.</a:t>
            </a:r>
          </a:p>
          <a:p>
            <a:pPr>
              <a:defRPr sz="1200">
                <a:solidFill>
                  <a:srgbClr val="94A3B8"/>
                </a:solidFill>
              </a:defRPr>
            </a:pPr>
            <a:r>
              <a:t>✖ A mock simulation proves control behavior, not every external LLM behavior.</a:t>
            </a:r>
          </a:p>
          <a:p>
            <a:pPr>
              <a:defRPr sz="1200">
                <a:solidFill>
                  <a:srgbClr val="94A3B8"/>
                </a:solidFill>
              </a:defRPr>
            </a:pPr>
            <a:r>
              <a:t>✖ Truncation detection requires a trusted checkpoint comparison.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LIVE WALKTHROUGH</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The 6-Scene Hackathon Demonstration Script</a:t>
            </a:r>
          </a:p>
          <a:p>
            <a:pPr>
              <a:defRPr sz="1300">
                <a:solidFill>
                  <a:srgbClr val="94A3B8"/>
                </a:solidFill>
              </a:defRPr>
            </a:pPr>
            <a:r>
              <a:t>A repeatable, high-impact 3-minute sequence executed via `./demo.sh`</a:t>
            </a:r>
          </a:p>
        </p:txBody>
      </p:sp>
      <p:sp>
        <p:nvSpPr>
          <p:cNvPr id="5" name="Rounded Rectangle 4"/>
          <p:cNvSpPr/>
          <p:nvPr/>
        </p:nvSpPr>
        <p:spPr>
          <a:xfrm>
            <a:off x="731520" y="1645920"/>
            <a:ext cx="3383280" cy="201168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365760"/>
          </a:xfrm>
          <a:prstGeom prst="rect">
            <a:avLst/>
          </a:prstGeom>
          <a:noFill/>
        </p:spPr>
        <p:txBody>
          <a:bodyPr wrap="square" lIns="0" tIns="0" rIns="0" bIns="0">
            <a:spAutoFit/>
          </a:bodyPr>
          <a:lstStyle/>
          <a:p>
            <a:pPr>
              <a:defRPr sz="1500" b="1">
                <a:solidFill>
                  <a:srgbClr val="F8FAFC"/>
                </a:solidFill>
              </a:defRPr>
            </a:pPr>
            <a:r>
              <a:t>Scene 1: Offline Baseline</a:t>
            </a:r>
          </a:p>
        </p:txBody>
      </p:sp>
      <p:sp>
        <p:nvSpPr>
          <p:cNvPr id="7" name="TextBox 6"/>
          <p:cNvSpPr txBox="1"/>
          <p:nvPr/>
        </p:nvSpPr>
        <p:spPr>
          <a:xfrm>
            <a:off x="960120" y="2240280"/>
            <a:ext cx="2926080" cy="1280160"/>
          </a:xfrm>
          <a:prstGeom prst="rect">
            <a:avLst/>
          </a:prstGeom>
          <a:noFill/>
        </p:spPr>
        <p:txBody>
          <a:bodyPr wrap="square">
            <a:spAutoFit/>
          </a:bodyPr>
          <a:lstStyle/>
          <a:p>
            <a:pPr>
              <a:defRPr sz="1200">
                <a:solidFill>
                  <a:srgbClr val="94A3B8"/>
                </a:solidFill>
              </a:defRPr>
            </a:pPr>
            <a:r>
              <a:t>Start Bayora offline. Execute benign prompt. Show successful execution and Block #1 created in SHA-256 ledger.</a:t>
            </a:r>
          </a:p>
        </p:txBody>
      </p:sp>
      <p:sp>
        <p:nvSpPr>
          <p:cNvPr id="8" name="Rounded Rectangle 7"/>
          <p:cNvSpPr/>
          <p:nvPr/>
        </p:nvSpPr>
        <p:spPr>
          <a:xfrm>
            <a:off x="4389120" y="1645920"/>
            <a:ext cx="3383280" cy="2011680"/>
          </a:xfrm>
          <a:prstGeom prst="roundRect">
            <a:avLst/>
          </a:prstGeom>
          <a:solidFill>
            <a:srgbClr val="131A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828800"/>
            <a:ext cx="2926080" cy="365760"/>
          </a:xfrm>
          <a:prstGeom prst="rect">
            <a:avLst/>
          </a:prstGeom>
          <a:noFill/>
        </p:spPr>
        <p:txBody>
          <a:bodyPr wrap="square" lIns="0" tIns="0" rIns="0" bIns="0">
            <a:spAutoFit/>
          </a:bodyPr>
          <a:lstStyle/>
          <a:p>
            <a:pPr>
              <a:defRPr sz="1500" b="1">
                <a:solidFill>
                  <a:srgbClr val="F8FAFC"/>
                </a:solidFill>
              </a:defRPr>
            </a:pPr>
            <a:r>
              <a:t>Scene 2: Adversarial Injection</a:t>
            </a:r>
          </a:p>
        </p:txBody>
      </p:sp>
      <p:sp>
        <p:nvSpPr>
          <p:cNvPr id="10" name="TextBox 9"/>
          <p:cNvSpPr txBox="1"/>
          <p:nvPr/>
        </p:nvSpPr>
        <p:spPr>
          <a:xfrm>
            <a:off x="4617720" y="2240280"/>
            <a:ext cx="2926080" cy="1280160"/>
          </a:xfrm>
          <a:prstGeom prst="rect">
            <a:avLst/>
          </a:prstGeom>
          <a:noFill/>
        </p:spPr>
        <p:txBody>
          <a:bodyPr wrap="square">
            <a:spAutoFit/>
          </a:bodyPr>
          <a:lstStyle/>
          <a:p>
            <a:pPr>
              <a:defRPr sz="1200">
                <a:solidFill>
                  <a:srgbClr val="94A3B8"/>
                </a:solidFill>
              </a:defRPr>
            </a:pPr>
            <a:r>
              <a:t>Submit controlled prompt injection with synthetic canary extraction probe (`run_id=8f9b2c`).</a:t>
            </a:r>
          </a:p>
        </p:txBody>
      </p:sp>
      <p:sp>
        <p:nvSpPr>
          <p:cNvPr id="11" name="Rounded Rectangle 10"/>
          <p:cNvSpPr/>
          <p:nvPr/>
        </p:nvSpPr>
        <p:spPr>
          <a:xfrm>
            <a:off x="8046720" y="1645920"/>
            <a:ext cx="3383280" cy="2011680"/>
          </a:xfrm>
          <a:prstGeom prst="roundRect">
            <a:avLst/>
          </a:prstGeom>
          <a:solidFill>
            <a:srgbClr val="131A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828800"/>
            <a:ext cx="2926080" cy="365760"/>
          </a:xfrm>
          <a:prstGeom prst="rect">
            <a:avLst/>
          </a:prstGeom>
          <a:noFill/>
        </p:spPr>
        <p:txBody>
          <a:bodyPr wrap="square" lIns="0" tIns="0" rIns="0" bIns="0">
            <a:spAutoFit/>
          </a:bodyPr>
          <a:lstStyle/>
          <a:p>
            <a:pPr>
              <a:defRPr sz="1500" b="1">
                <a:solidFill>
                  <a:srgbClr val="F8FAFC"/>
                </a:solidFill>
              </a:defRPr>
            </a:pPr>
            <a:r>
              <a:t>Scene 3: Proof of Containment</a:t>
            </a:r>
          </a:p>
        </p:txBody>
      </p:sp>
      <p:sp>
        <p:nvSpPr>
          <p:cNvPr id="13" name="TextBox 12"/>
          <p:cNvSpPr txBox="1"/>
          <p:nvPr/>
        </p:nvSpPr>
        <p:spPr>
          <a:xfrm>
            <a:off x="8275320" y="2240280"/>
            <a:ext cx="2926080" cy="1280160"/>
          </a:xfrm>
          <a:prstGeom prst="rect">
            <a:avLst/>
          </a:prstGeom>
          <a:noFill/>
        </p:spPr>
        <p:txBody>
          <a:bodyPr wrap="square">
            <a:spAutoFit/>
          </a:bodyPr>
          <a:lstStyle/>
          <a:p>
            <a:pPr>
              <a:defRPr sz="1200">
                <a:solidFill>
                  <a:srgbClr val="94A3B8"/>
                </a:solidFill>
              </a:defRPr>
            </a:pPr>
            <a:r>
              <a:t>Inspect released response: Canary is ABSENT. Verify Blue Guardrail `REDACTED` event in audit trail.</a:t>
            </a:r>
          </a:p>
        </p:txBody>
      </p:sp>
      <p:sp>
        <p:nvSpPr>
          <p:cNvPr id="14" name="Rounded Rectangle 13"/>
          <p:cNvSpPr/>
          <p:nvPr/>
        </p:nvSpPr>
        <p:spPr>
          <a:xfrm>
            <a:off x="731520" y="3931920"/>
            <a:ext cx="3383280" cy="2011680"/>
          </a:xfrm>
          <a:prstGeom prst="roundRect">
            <a:avLst/>
          </a:prstGeom>
          <a:solidFill>
            <a:srgbClr val="131A2A"/>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14800"/>
            <a:ext cx="2926080" cy="365760"/>
          </a:xfrm>
          <a:prstGeom prst="rect">
            <a:avLst/>
          </a:prstGeom>
          <a:noFill/>
        </p:spPr>
        <p:txBody>
          <a:bodyPr wrap="square" lIns="0" tIns="0" rIns="0" bIns="0">
            <a:spAutoFit/>
          </a:bodyPr>
          <a:lstStyle/>
          <a:p>
            <a:pPr>
              <a:defRPr sz="1500" b="1">
                <a:solidFill>
                  <a:srgbClr val="F8FAFC"/>
                </a:solidFill>
              </a:defRPr>
            </a:pPr>
            <a:r>
              <a:t>Scene 4: Runtime Defense</a:t>
            </a:r>
          </a:p>
        </p:txBody>
      </p:sp>
      <p:sp>
        <p:nvSpPr>
          <p:cNvPr id="16" name="TextBox 15"/>
          <p:cNvSpPr txBox="1"/>
          <p:nvPr/>
        </p:nvSpPr>
        <p:spPr>
          <a:xfrm>
            <a:off x="960120" y="4526280"/>
            <a:ext cx="2926080" cy="1280160"/>
          </a:xfrm>
          <a:prstGeom prst="rect">
            <a:avLst/>
          </a:prstGeom>
          <a:noFill/>
        </p:spPr>
        <p:txBody>
          <a:bodyPr wrap="square">
            <a:spAutoFit/>
          </a:bodyPr>
          <a:lstStyle/>
          <a:p>
            <a:pPr>
              <a:defRPr sz="1200">
                <a:solidFill>
                  <a:srgbClr val="94A3B8"/>
                </a:solidFill>
              </a:defRPr>
            </a:pPr>
            <a:r>
              <a:t>Target attempts unauthorized outbound socket connection &amp; root filesystem write. Assert connection refused &amp; EROFS.</a:t>
            </a:r>
          </a:p>
        </p:txBody>
      </p:sp>
      <p:sp>
        <p:nvSpPr>
          <p:cNvPr id="17" name="Rounded Rectangle 16"/>
          <p:cNvSpPr/>
          <p:nvPr/>
        </p:nvSpPr>
        <p:spPr>
          <a:xfrm>
            <a:off x="4389120" y="3931920"/>
            <a:ext cx="3383280" cy="2011680"/>
          </a:xfrm>
          <a:prstGeom prst="roundRect">
            <a:avLst/>
          </a:prstGeom>
          <a:solidFill>
            <a:srgbClr val="131A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114800"/>
            <a:ext cx="2926080" cy="365760"/>
          </a:xfrm>
          <a:prstGeom prst="rect">
            <a:avLst/>
          </a:prstGeom>
          <a:noFill/>
        </p:spPr>
        <p:txBody>
          <a:bodyPr wrap="square" lIns="0" tIns="0" rIns="0" bIns="0">
            <a:spAutoFit/>
          </a:bodyPr>
          <a:lstStyle/>
          <a:p>
            <a:pPr>
              <a:defRPr sz="1500" b="1">
                <a:solidFill>
                  <a:srgbClr val="F8FAFC"/>
                </a:solidFill>
              </a:defRPr>
            </a:pPr>
            <a:r>
              <a:t>Scene 5: Tamper Challenge</a:t>
            </a:r>
          </a:p>
        </p:txBody>
      </p:sp>
      <p:sp>
        <p:nvSpPr>
          <p:cNvPr id="19" name="TextBox 18"/>
          <p:cNvSpPr txBox="1"/>
          <p:nvPr/>
        </p:nvSpPr>
        <p:spPr>
          <a:xfrm>
            <a:off x="4617720" y="4526280"/>
            <a:ext cx="2926080" cy="1280160"/>
          </a:xfrm>
          <a:prstGeom prst="rect">
            <a:avLst/>
          </a:prstGeom>
          <a:noFill/>
        </p:spPr>
        <p:txBody>
          <a:bodyPr wrap="square">
            <a:spAutoFit/>
          </a:bodyPr>
          <a:lstStyle/>
          <a:p>
            <a:pPr>
              <a:defRPr sz="1200">
                <a:solidFill>
                  <a:srgbClr val="94A3B8"/>
                </a:solidFill>
              </a:defRPr>
            </a:pPr>
            <a:r>
              <a:t>Run `tamper_demo.py` on disposable ledger copy. Verifier detects corrupt byte at Block #3 and halts with `[TAMPER REJECTED]`.</a:t>
            </a:r>
          </a:p>
        </p:txBody>
      </p:sp>
      <p:sp>
        <p:nvSpPr>
          <p:cNvPr id="20" name="Rounded Rectangle 19"/>
          <p:cNvSpPr/>
          <p:nvPr/>
        </p:nvSpPr>
        <p:spPr>
          <a:xfrm>
            <a:off x="8046720" y="3931920"/>
            <a:ext cx="3383280" cy="2011680"/>
          </a:xfrm>
          <a:prstGeom prst="roundRect">
            <a:avLst/>
          </a:prstGeom>
          <a:solidFill>
            <a:srgbClr val="131A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4114800"/>
            <a:ext cx="2926080" cy="365760"/>
          </a:xfrm>
          <a:prstGeom prst="rect">
            <a:avLst/>
          </a:prstGeom>
          <a:noFill/>
        </p:spPr>
        <p:txBody>
          <a:bodyPr wrap="square" lIns="0" tIns="0" rIns="0" bIns="0">
            <a:spAutoFit/>
          </a:bodyPr>
          <a:lstStyle/>
          <a:p>
            <a:pPr>
              <a:defRPr sz="1500" b="1">
                <a:solidFill>
                  <a:srgbClr val="F8FAFC"/>
                </a:solidFill>
              </a:defRPr>
            </a:pPr>
            <a:r>
              <a:t>Scene 6: Signed Attestation</a:t>
            </a:r>
          </a:p>
        </p:txBody>
      </p:sp>
      <p:sp>
        <p:nvSpPr>
          <p:cNvPr id="22" name="TextBox 21"/>
          <p:cNvSpPr txBox="1"/>
          <p:nvPr/>
        </p:nvSpPr>
        <p:spPr>
          <a:xfrm>
            <a:off x="8275320" y="4526280"/>
            <a:ext cx="2926080" cy="1280160"/>
          </a:xfrm>
          <a:prstGeom prst="rect">
            <a:avLst/>
          </a:prstGeom>
          <a:noFill/>
        </p:spPr>
        <p:txBody>
          <a:bodyPr wrap="square">
            <a:spAutoFit/>
          </a:bodyPr>
          <a:lstStyle/>
          <a:p>
            <a:pPr>
              <a:defRPr sz="1200">
                <a:solidFill>
                  <a:srgbClr val="94A3B8"/>
                </a:solidFill>
              </a:defRPr>
            </a:pPr>
            <a:r>
              <a:t>Generate `audit_report.json`. Execute independent Ed25519 signature verification CLI and inspect verified status.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tIns="0" rIns="0" bIns="0">
            <a:spAutoFit/>
          </a:bodyPr>
          <a:lstStyle/>
          <a:p>
            <a:pPr>
              <a:defRPr sz="1100" b="1">
                <a:solidFill>
                  <a:srgbClr val="06B6D4"/>
                </a:solidFill>
              </a:defRPr>
            </a:pPr>
            <a:r>
              <a:t>PROJECT SUMMARY</a:t>
            </a:r>
          </a:p>
        </p:txBody>
      </p:sp>
      <p:sp>
        <p:nvSpPr>
          <p:cNvPr id="4" name="TextBox 3"/>
          <p:cNvSpPr txBox="1"/>
          <p:nvPr/>
        </p:nvSpPr>
        <p:spPr>
          <a:xfrm>
            <a:off x="731520" y="731520"/>
            <a:ext cx="10698480" cy="640080"/>
          </a:xfrm>
          <a:prstGeom prst="rect">
            <a:avLst/>
          </a:prstGeom>
          <a:noFill/>
        </p:spPr>
        <p:txBody>
          <a:bodyPr wrap="square" lIns="0" tIns="0" rIns="0" bIns="0">
            <a:spAutoFit/>
          </a:bodyPr>
          <a:lstStyle/>
          <a:p>
            <a:pPr>
              <a:defRPr sz="2600" b="1">
                <a:solidFill>
                  <a:srgbClr val="F8FAFC"/>
                </a:solidFill>
              </a:defRPr>
            </a:pPr>
            <a:r>
              <a:t>Bayora: Setting the Standard for AI Security Evidence</a:t>
            </a:r>
          </a:p>
          <a:p>
            <a:pPr>
              <a:defRPr sz="1300">
                <a:solidFill>
                  <a:srgbClr val="94A3B8"/>
                </a:solidFill>
              </a:defRPr>
            </a:pPr>
            <a:r>
              <a:t>From probabilistic guesswork to deterministic, cryptographically verifiable containment</a:t>
            </a:r>
          </a:p>
        </p:txBody>
      </p:sp>
      <p:sp>
        <p:nvSpPr>
          <p:cNvPr id="5" name="Rounded Rectangle 4"/>
          <p:cNvSpPr/>
          <p:nvPr/>
        </p:nvSpPr>
        <p:spPr>
          <a:xfrm>
            <a:off x="731520" y="1645920"/>
            <a:ext cx="10698480" cy="3657600"/>
          </a:xfrm>
          <a:prstGeom prst="roundRect">
            <a:avLst/>
          </a:prstGeom>
          <a:solidFill>
            <a:srgbClr val="101828"/>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920240"/>
            <a:ext cx="9966960" cy="3108960"/>
          </a:xfrm>
          <a:prstGeom prst="rect">
            <a:avLst/>
          </a:prstGeom>
          <a:noFill/>
        </p:spPr>
        <p:txBody>
          <a:bodyPr wrap="square">
            <a:spAutoFit/>
          </a:bodyPr>
          <a:lstStyle/>
          <a:p>
            <a:pPr>
              <a:defRPr sz="1400" b="1">
                <a:solidFill>
                  <a:srgbClr val="06B6D4"/>
                </a:solidFill>
              </a:defRPr>
            </a:pPr>
            <a:r>
              <a:t>THE BAYORA DEFINITION OF SUCCESS</a:t>
            </a:r>
          </a:p>
          <a:p>
            <a:pPr>
              <a:defRPr sz="1800" b="1">
                <a:solidFill>
                  <a:srgbClr val="F8FAFC"/>
                </a:solidFill>
              </a:defRPr>
            </a:pPr>
            <a:r>
              <a:t>Adversarial Test  ➔  Policy Enforcement  ➔  Observable Containment  ➔  Structured Audit Event  ➔  Hash-Chained Verification  ➔  Signed Attestation Report</a:t>
            </a:r>
          </a:p>
          <a:p>
            <a:br/>
            <a:pPr>
              <a:defRPr sz="1300" b="1">
                <a:solidFill>
                  <a:srgbClr val="10B981"/>
                </a:solidFill>
              </a:defRPr>
            </a:pPr>
            <a:r>
              <a:t>What Bayora Delivers Today:</a:t>
            </a:r>
          </a:p>
          <a:p>
            <a:pPr>
              <a:defRPr sz="1200">
                <a:solidFill>
                  <a:srgbClr val="94A3B8"/>
                </a:solidFill>
              </a:defRPr>
            </a:pPr>
            <a:r>
              <a:t>✔ 100% Offline-First Architecture — Zero internet dependencies, zero cloud API lag, deterministic mock backend.</a:t>
            </a:r>
          </a:p>
          <a:p>
            <a:pPr>
              <a:defRPr sz="1200">
                <a:solidFill>
                  <a:srgbClr val="94A3B8"/>
                </a:solidFill>
              </a:defRPr>
            </a:pPr>
            <a:r>
              <a:t>✔ Defense in Depth — Application schema + Broker policy + OS read-only container isolation.</a:t>
            </a:r>
          </a:p>
          <a:p>
            <a:pPr>
              <a:defRPr sz="1200">
                <a:solidFill>
                  <a:srgbClr val="94A3B8"/>
                </a:solidFill>
              </a:defRPr>
            </a:pPr>
            <a:r>
              <a:t>✔ Cryptographic Integrity — SHA-256 hash-chained ledger and Ed25519 signed checkpoints that catch any tampering.</a:t>
            </a:r>
          </a:p>
          <a:p>
            <a:pPr>
              <a:defRPr sz="1200">
                <a:solidFill>
                  <a:srgbClr val="94A3B8"/>
                </a:solidFill>
              </a:defRPr>
            </a:pPr>
            <a:r>
              <a:t>✔ Truthful, Audit-Ready Evidence — Machine-readable audit_report.json with verifiable cryptographic proof.</a:t>
            </a:r>
          </a:p>
        </p:txBody>
      </p:sp>
      <p:sp>
        <p:nvSpPr>
          <p:cNvPr id="7" name="Rounded Rectangle 6"/>
          <p:cNvSpPr/>
          <p:nvPr/>
        </p:nvSpPr>
        <p:spPr>
          <a:xfrm>
            <a:off x="731520" y="5486400"/>
            <a:ext cx="10698480" cy="868680"/>
          </a:xfrm>
          <a:prstGeom prst="roundRect">
            <a:avLst/>
          </a:prstGeom>
          <a:solidFill>
            <a:srgbClr val="0C1C1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23560"/>
            <a:ext cx="10332720" cy="594360"/>
          </a:xfrm>
          <a:prstGeom prst="rect">
            <a:avLst/>
          </a:prstGeom>
          <a:noFill/>
        </p:spPr>
        <p:txBody>
          <a:bodyPr wrap="square">
            <a:spAutoFit/>
          </a:bodyPr>
          <a:lstStyle/>
          <a:p>
            <a:pPr algn="ctr">
              <a:defRPr sz="1400" b="1">
                <a:solidFill>
                  <a:srgbClr val="10B981"/>
                </a:solidFill>
              </a:defRPr>
            </a:pPr>
            <a:r>
              <a:t>BAYORA: If an AI security sandbox cannot prove what happened, it didn't happen.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